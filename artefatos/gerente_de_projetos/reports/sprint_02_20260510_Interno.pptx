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76" r:id="rId24"/>
    <p:sldId id="275" r:id="rId23"/>
    <p:sldId id="274" r:id="rId22"/>
    <p:sldId id="273" r:id="rId21"/>
    <p:sldId id="272" r:id="rId20"/>
    <p:sldId id="271" r:id="rId19"/>
    <p:sldId id="270" r:id="rId18"/>
    <p:sldId id="269" r:id="rId17"/>
    <p:sldId id="268" r:id="rId16"/>
    <p:sldId id="267" r:id="rId15"/>
    <p:sldId id="266" r:id="rId14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0960" cy="1468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B7A5142-31BB-49EC-AAA7-3346BFC3A7A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1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0C84D38D-BCB8-4780-A7C9-DCDD4F99D23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5960" cy="585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8480" cy="585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F18AB68-CB0F-4F42-A469-FC53B7EBE61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75434C64-A4E5-4E8F-899D-DAB7305740E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0960" cy="136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0960" cy="149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D45A7FA-0BA9-45FA-8E73-BB2151AA18B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040" cy="452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040" cy="452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D9D8B24-0F54-4ACA-A15F-ACA4DAEB669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8840" cy="63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8840" cy="3949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0280" cy="63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0280" cy="3949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F4C3921-8FF7-45A9-AB77-95B12FFBC96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7407FD2B-2D84-4D7C-9CB3-98EAA734F7E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BA5061C-1421-48F7-B415-CE6A82B775D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6720" cy="116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200" cy="585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6720" cy="4689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15229EA1-40D4-4C97-BAF5-305353E6425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4960" cy="56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4960" cy="803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3C6E4A9-E911-4567-A0FD-350978F4014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0960" cy="1468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dt" idx="34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ftr" idx="35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sldNum" idx="36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DA3C00C-0118-442C-A3B5-7916CE484EF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1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0960" cy="1468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Sprint Review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subTitle"/>
          </p:nvPr>
        </p:nvSpPr>
        <p:spPr>
          <a:xfrm>
            <a:off x="1371600" y="3420000"/>
            <a:ext cx="6399360" cy="2773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Agente de vendas Inforrel 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Sprint 2 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27/04/2026 - 15/05/2026 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19 dias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7" name=""/>
          <p:cNvPicPr/>
          <p:nvPr/>
        </p:nvPicPr>
        <p:blipFill>
          <a:blip r:embed="rId1"/>
          <a:stretch/>
        </p:blipFill>
        <p:spPr>
          <a:xfrm>
            <a:off x="0" y="-28800"/>
            <a:ext cx="9142560" cy="1647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/>
          </p:nvPr>
        </p:nvSpPr>
        <p:spPr>
          <a:xfrm>
            <a:off x="457200" y="155844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Continuar o desenvolvimento do sistema de RAG e Q&amp;A Pairs. 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Implementando a busca por chunks de produto e a camada curada sobre o RAG. 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69" name=""/>
          <p:cNvPicPr/>
          <p:nvPr/>
        </p:nvPicPr>
        <p:blipFill>
          <a:blip r:embed="rId1"/>
          <a:stretch/>
        </p:blipFill>
        <p:spPr>
          <a:xfrm>
            <a:off x="360" y="-28800"/>
            <a:ext cx="9142560" cy="1647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Title 2"/>
          <p:cNvSpPr/>
          <p:nvPr/>
        </p:nvSpPr>
        <p:spPr>
          <a:xfrm>
            <a:off x="915120" y="180000"/>
            <a:ext cx="8228160" cy="11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4400" b="0" u="none" strike="noStrike">
                <a:solidFill>
                  <a:srgbClr val="EA7500"/>
                </a:solidFill>
                <a:effectLst/>
                <a:uFillTx/>
                <a:latin typeface="Calibri"/>
              </a:rPr>
              <a:t>Objetivo da Sprint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/>
          </p:nvPr>
        </p:nvSpPr>
        <p:spPr>
          <a:xfrm>
            <a:off x="411120" y="900000"/>
            <a:ext cx="8228160" cy="5059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0" algn="l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{{SLIDE:feito}}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{{feito_titulo}}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Responsável: {{feito_agente}}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{{feito_descricao}}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2" name=""/>
          <p:cNvPicPr/>
          <p:nvPr/>
        </p:nvPicPr>
        <p:blipFill>
          <a:blip r:embed="rId1"/>
          <a:stretch/>
        </p:blipFill>
        <p:spPr>
          <a:xfrm>
            <a:off x="720" y="-28800"/>
            <a:ext cx="9142560" cy="1647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Title 3"/>
          <p:cNvSpPr/>
          <p:nvPr/>
        </p:nvSpPr>
        <p:spPr>
          <a:xfrm>
            <a:off x="915480" y="180000"/>
            <a:ext cx="8228160" cy="11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4400" b="0" u="none" strike="noStrike">
                <a:solidFill>
                  <a:srgbClr val="EA7500"/>
                </a:solidFill>
                <a:effectLst/>
                <a:uFillTx/>
                <a:latin typeface="Calibri"/>
              </a:rPr>
              <a:t>Realizações da Sprint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8160" cy="2718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🔴 Provedor LLM para produção: Groq (atual) tem rate limits; OpenAI custo elevado. Decisão pendente antes de deploy.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🟡 Webhook WhatsApp/Twilio: requer URL pública (ngrok para dev); validação de sandbox antes de REQ-008.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🟡 Seed Q&amp;A: pares criados com aprovado=false; precisam de revisão humana antes de ativar para o agente.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5" name=""/>
          <p:cNvPicPr/>
          <p:nvPr/>
        </p:nvPicPr>
        <p:blipFill>
          <a:blip r:embed="rId1"/>
          <a:stretch/>
        </p:blipFill>
        <p:spPr>
          <a:xfrm>
            <a:off x="720" y="-28800"/>
            <a:ext cx="9142560" cy="1647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" name="Title 4"/>
          <p:cNvSpPr/>
          <p:nvPr/>
        </p:nvSpPr>
        <p:spPr>
          <a:xfrm>
            <a:off x="915480" y="180000"/>
            <a:ext cx="8228160" cy="11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4400" b="0" u="none" strike="noStrike">
                <a:solidFill>
                  <a:srgbClr val="EA7500"/>
                </a:solidFill>
                <a:effectLst/>
                <a:uFillTx/>
                <a:latin typeface="Calibri"/>
              </a:rPr>
              <a:t>Bloqueios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/>
          </p:nvPr>
        </p:nvSpPr>
        <p:spPr>
          <a:xfrm>
            <a:off x="457200" y="1080000"/>
            <a:ext cx="8542080" cy="5257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Artefatos criados: 18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Pendências resolvidas: 3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Novas pendências: 2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Bugs corrigidos: 2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Total de Reports: 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Reports resolvidos: 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Novas diretrizes criadas: 2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Pares de Q&amp;A criados: 9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Requisitos atendidos: 2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8" name=""/>
          <p:cNvPicPr/>
          <p:nvPr/>
        </p:nvPicPr>
        <p:blipFill>
          <a:blip r:embed="rId1"/>
          <a:stretch/>
        </p:blipFill>
        <p:spPr>
          <a:xfrm>
            <a:off x="720" y="-28800"/>
            <a:ext cx="9142560" cy="1647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" name="Title 5"/>
          <p:cNvSpPr/>
          <p:nvPr/>
        </p:nvSpPr>
        <p:spPr>
          <a:xfrm>
            <a:off x="915480" y="180000"/>
            <a:ext cx="8228160" cy="11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4400" b="0" u="none" strike="noStrike">
                <a:solidFill>
                  <a:srgbClr val="EA7500"/>
                </a:solidFill>
                <a:effectLst/>
                <a:uFillTx/>
                <a:latin typeface="Calibri"/>
              </a:rPr>
              <a:t>Métricas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/>
          </p:nvPr>
        </p:nvSpPr>
        <p:spPr>
          <a:xfrm>
            <a:off x="415080" y="1080000"/>
            <a:ext cx="8228160" cy="2898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Velocidade: Sprint com alta entrega técnica (sistema Q&amp;A Pairs completo em 1 sprint). O plano de 9 passos foi executado integralmente, porém com extensão de tempo (1 semana).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Dívida de planejamento: três itens prioritários do Sprint 1 (REQ-002, REQ-004, REQ-007) migraram para o Sprint 2 e novamente para o Sprint 3. Risco de acumulação. Recomendado comprometer no mínimo REQ-002 e REQ-004 no Sprint 3 antes de iniciar novas features.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Qualidade: bug de reprovação revelou fragilidade no estado derivado (propriedade calculada pendente_aprovacao). Considerar adicionar check de QA para estados calculados críticos.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Governança de IA: análise Agentes vs Skills vs Harness gerou insumo para simplificação do diretório agentes/. Recomendado executar a simplificação no Sprint 3 (baixa prioridade, mas reduz dívida de manutenção).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Embedding lazy (gerado na aprovação, não no cadastro): decisão correta — elimina custo de API para rascunhos que nunca serão aprovados e reduz latência do POST /api/pares-qa.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1" name=""/>
          <p:cNvPicPr/>
          <p:nvPr/>
        </p:nvPicPr>
        <p:blipFill>
          <a:blip r:embed="rId1"/>
          <a:stretch/>
        </p:blipFill>
        <p:spPr>
          <a:xfrm>
            <a:off x="720" y="-28800"/>
            <a:ext cx="9142560" cy="1647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" name="Title 6"/>
          <p:cNvSpPr/>
          <p:nvPr/>
        </p:nvSpPr>
        <p:spPr>
          <a:xfrm>
            <a:off x="915480" y="180000"/>
            <a:ext cx="8228160" cy="11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4400" b="0" u="none" strike="noStrike">
                <a:solidFill>
                  <a:srgbClr val="EA7500"/>
                </a:solidFill>
                <a:effectLst/>
                <a:uFillTx/>
                <a:latin typeface="Calibri"/>
              </a:rPr>
              <a:t>Insights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0960" cy="1468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Próximo Sprint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subTitle"/>
          </p:nvPr>
        </p:nvSpPr>
        <p:spPr>
          <a:xfrm>
            <a:off x="1371600" y="3420000"/>
            <a:ext cx="6399360" cy="2773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6000" indent="-21600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Sprint 3 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18/05/2026 - 29/05/2026 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12 dias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5" name=""/>
          <p:cNvPicPr/>
          <p:nvPr/>
        </p:nvPicPr>
        <p:blipFill>
          <a:blip r:embed="rId1"/>
          <a:stretch/>
        </p:blipFill>
        <p:spPr>
          <a:xfrm>
            <a:off x="0" y="-28800"/>
            <a:ext cx="9142560" cy="1647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" name="Title 1"/>
          <p:cNvSpPr/>
          <p:nvPr/>
        </p:nvSpPr>
        <p:spPr>
          <a:xfrm>
            <a:off x="915120" y="180360"/>
            <a:ext cx="8228160" cy="11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4400" b="0" u="none" strike="noStrike">
                <a:solidFill>
                  <a:srgbClr val="EA7500"/>
                </a:solidFill>
                <a:effectLst/>
                <a:uFillTx/>
                <a:latin typeface="Calibri"/>
              </a:rPr>
              <a:t>Planejamento da </a:t>
            </a:r>
            <a:br>
              <a:rPr sz="4400"/>
            </a:br>
            <a:r>
              <a:rPr lang="en-US" sz="4400" b="0" u="none" strike="noStrike">
                <a:solidFill>
                  <a:srgbClr val="EA7500"/>
                </a:solidFill>
                <a:effectLst/>
                <a:uFillTx/>
                <a:latin typeface="Calibri"/>
              </a:rPr>
              <a:t>próxima Sprint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subTitle"/>
          </p:nvPr>
        </p:nvSpPr>
        <p:spPr>
          <a:xfrm>
            <a:off x="799920" y="1980000"/>
            <a:ext cx="6399360" cy="2773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6000" indent="-21600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Microsoft YaHei"/>
              </a:rPr>
              <a:t>Cadastro de Tipos de Produto e Produtos (REQ-002) (alta)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Microsoft YaHei"/>
              </a:rPr>
              <a:t>Cadastro de Tipos de Produto e Produtos (REQ-002) (alta)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Microsoft YaHei"/>
              </a:rPr>
              <a:t>Escalonamento para Humano completo (REQ-004) (alta)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Microsoft YaHei"/>
              </a:rPr>
              <a:t>Workflow de aprovação de pares Q&amp;A (notificação + histórico de revisões) (media)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Microsoft YaHei"/>
              </a:rPr>
              <a:t>Webhook Twilio para recebimento de mensagens reais (REQ-008) (alta)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Microsoft YaHei"/>
              </a:rPr>
              <a:t>Análise de sentimento e detecção de mal humor (REQ-007) (media)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Microsoft YaHei"/>
              </a:rPr>
              <a:t>Rastreamento de orçamentos (REQ-006) (media)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Microsoft YaHei"/>
              </a:rPr>
              <a:t>Simplificação dos agentes Python (condensar prompts no AGENTS.md) (baixa)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8" name=""/>
          <p:cNvPicPr/>
          <p:nvPr/>
        </p:nvPicPr>
        <p:blipFill>
          <a:blip r:embed="rId1"/>
          <a:stretch/>
        </p:blipFill>
        <p:spPr>
          <a:xfrm>
            <a:off x="0" y="-28800"/>
            <a:ext cx="9142560" cy="1647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" name="Title 12"/>
          <p:cNvSpPr/>
          <p:nvPr/>
        </p:nvSpPr>
        <p:spPr>
          <a:xfrm>
            <a:off x="915120" y="180360"/>
            <a:ext cx="8228160" cy="11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4400" b="0" u="none" strike="noStrike">
                <a:solidFill>
                  <a:srgbClr val="EA7500"/>
                </a:solidFill>
                <a:effectLst/>
                <a:uFillTx/>
                <a:latin typeface="Calibri"/>
              </a:rPr>
              <a:t>Planejamento da </a:t>
            </a:r>
            <a:br>
              <a:rPr sz="4400"/>
            </a:br>
            <a:r>
              <a:rPr lang="en-US" sz="4400" b="0" u="none" strike="noStrike">
                <a:solidFill>
                  <a:srgbClr val="EA7500"/>
                </a:solidFill>
                <a:effectLst/>
                <a:uFillTx/>
                <a:latin typeface="Calibri"/>
              </a:rPr>
              <a:t>próxima Sprint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/>
          </p:nvPr>
        </p:nvSpPr>
        <p:spPr>
          <a:xfrm>
            <a:off x="457200" y="155844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Integração com WhatsApp Business. 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Cadastro de tipos de produtos. 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1" name=""/>
          <p:cNvPicPr/>
          <p:nvPr/>
        </p:nvPicPr>
        <p:blipFill>
          <a:blip r:embed="rId1"/>
          <a:stretch/>
        </p:blipFill>
        <p:spPr>
          <a:xfrm>
            <a:off x="360" y="-28800"/>
            <a:ext cx="9142560" cy="1647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" name="Title 10"/>
          <p:cNvSpPr/>
          <p:nvPr/>
        </p:nvSpPr>
        <p:spPr>
          <a:xfrm>
            <a:off x="915120" y="180000"/>
            <a:ext cx="8228160" cy="11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4400" b="0" u="none" strike="noStrike">
                <a:solidFill>
                  <a:srgbClr val="EA7500"/>
                </a:solidFill>
                <a:effectLst/>
                <a:uFillTx/>
                <a:latin typeface="Calibri"/>
              </a:rPr>
              <a:t>Objetivo da Próxima Sprint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8160" cy="3438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REQ-002: Fluxo adaptativo com lógica de próxima pergunta dinâmica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REQ-002: Validação de respostas e esclarecimento pontual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REQ-004: Estado em atendimento humano persistente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REQ-004: Notificação ao atendente via WhatsApp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REQ-004: Geração de resumo da conversa para humano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REQ-004: Gatilhos automáticos de escalonamento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REQ-005: Consulta/filtro de histórico por cliente/período/status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REQ-005: Auditoria completa de IA/RAG (prompt, contexto, resposta)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REQ-006: Modelo de orçamentos com status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REQ-006: Associação conversa-orçamento-cliente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REQ-007: Classificação formal positivo/neutro/negativo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REQ-007: Flag de conversa crítica e integração com escalonamento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REQ-008: Webhook Twilio para recebimento (idempotência, assinatura)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REQ-008: Envio de mensagens via Twilio API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REQ-009: Detecção de reclamação pós-venda e escalonamento com contexto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Q&amp;A v2: Extração automática de pares de conversas reais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Q&amp;A v2: Feedback loop — avaliação de respostas pelo operador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Q&amp;A v2: Importação em lote via CSV pelo frontend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Autenticação e autorização (JWT, roles admin/operador)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Deploy em produção com domínio Inforrel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Sistema de notificações em tempo real (WebSocket/SSE)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Multi-tenancy da aplicação (arquitetura SaaS)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Integração com ERPs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4" name=""/>
          <p:cNvPicPr/>
          <p:nvPr/>
        </p:nvPicPr>
        <p:blipFill>
          <a:blip r:embed="rId1"/>
          <a:stretch/>
        </p:blipFill>
        <p:spPr>
          <a:xfrm>
            <a:off x="720" y="-28800"/>
            <a:ext cx="9142560" cy="1647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Title 11"/>
          <p:cNvSpPr/>
          <p:nvPr/>
        </p:nvSpPr>
        <p:spPr>
          <a:xfrm>
            <a:off x="915480" y="180000"/>
            <a:ext cx="8228160" cy="11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4400" b="0" u="none" strike="noStrike">
                <a:solidFill>
                  <a:srgbClr val="EA7500"/>
                </a:solidFill>
                <a:effectLst/>
                <a:uFillTx/>
                <a:latin typeface="Calibri"/>
              </a:rPr>
              <a:t>Backlog pendente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1" name="PlaceHolder 1"/>
          <p:cNvSpPr>
            <a:spLocks noGrp="1"/>
          </p:cNvSpPr>
          <p:nvPr>
            <p:ph/>
          </p:nvPr>
        </p:nvSpPr>
        <p:spPr>
          <a:xfrm>
            <a:off x="411120" y="900000"/>
            <a:ext cx="8228160" cy="5059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0" algn="l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/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Página Cockpit de Acompanhamento de Conversas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Responsável: Implementador / Beto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Componente AcompanhamentoPage.jsx com listagem de negociações ativas, filtro por usuário, visualização do histórico de mensagens, aprovação/reprovação de mensagens pendentes, envio manual de mensagem pelo operador, modal de raciocínio do cérebro (processamento). Cobre o item planejado no Sprint 1.
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2" name=""/>
          <p:cNvPicPr/>
          <p:nvPr/>
        </p:nvPicPr>
        <p:blipFill>
          <a:blip r:embed="rId2"/>
          <a:stretch/>
        </p:blipFill>
        <p:spPr>
          <a:xfrm>
            <a:off x="720" y="-28800"/>
            <a:ext cx="9142560" cy="1647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Title 3"/>
          <p:cNvSpPr/>
          <p:nvPr/>
        </p:nvSpPr>
        <p:spPr>
          <a:xfrm>
            <a:off x="915480" y="180000"/>
            <a:ext cx="8228160" cy="11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4400" b="0" u="none" strike="noStrike">
                <a:solidFill>
                  <a:srgbClr val="EA7500"/>
                </a:solidFill>
                <a:effectLst/>
                <a:uFillTx/>
                <a:latin typeface="Calibri"/>
              </a:rPr>
              <a:t>Realizações da Sprint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1" name="PlaceHolder 1"/>
          <p:cNvSpPr>
            <a:spLocks noGrp="1"/>
          </p:cNvSpPr>
          <p:nvPr>
            <p:ph/>
          </p:nvPr>
        </p:nvSpPr>
        <p:spPr>
          <a:xfrm>
            <a:off x="411120" y="900000"/>
            <a:ext cx="8228160" cy="5059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0" algn="l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/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Sistema RAG — Busca por Chunks de Produto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Responsável: Implementador / Beto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Pipeline completo: webscraping + geração de chunks (gerar_chunks_rag.py), ingestão com embedding OpenAI (ingerir_conhecimento_rag.py), busca semântica via pgvector (RetrievalService). Scripts auxiliares: consolidar_conhecimento_rag.py, inventariar_fontes_rag.py, preprocessar_conhecimento_rag.py, buscar_rag.py (CLI de teste). Cobre parcialmente REQ-003.
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2" name=""/>
          <p:cNvPicPr/>
          <p:nvPr/>
        </p:nvPicPr>
        <p:blipFill>
          <a:blip r:embed="rId2"/>
          <a:stretch/>
        </p:blipFill>
        <p:spPr>
          <a:xfrm>
            <a:off x="720" y="-28800"/>
            <a:ext cx="9142560" cy="1647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Title 3"/>
          <p:cNvSpPr/>
          <p:nvPr/>
        </p:nvSpPr>
        <p:spPr>
          <a:xfrm>
            <a:off x="915480" y="180000"/>
            <a:ext cx="8228160" cy="11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4400" b="0" u="none" strike="noStrike">
                <a:solidFill>
                  <a:srgbClr val="EA7500"/>
                </a:solidFill>
                <a:effectLst/>
                <a:uFillTx/>
                <a:latin typeface="Calibri"/>
              </a:rPr>
              <a:t>Realizações da Sprint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1" name="PlaceHolder 1"/>
          <p:cNvSpPr>
            <a:spLocks noGrp="1"/>
          </p:cNvSpPr>
          <p:nvPr>
            <p:ph/>
          </p:nvPr>
        </p:nvSpPr>
        <p:spPr>
          <a:xfrm>
            <a:off x="411120" y="900000"/>
            <a:ext cx="8228160" cy="5059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0" algn="l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/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Sistema Q&amp;A Pairs — Camada Curada sobre o RAG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Responsável: Implementador / Beto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Implementação completa dos 9 passos do plano_qa_pairs_v1.md: Ajustes no DB; criação de Q&amp;A inicial baseada nos folders de produtos.
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2" name=""/>
          <p:cNvPicPr/>
          <p:nvPr/>
        </p:nvPicPr>
        <p:blipFill>
          <a:blip r:embed="rId2"/>
          <a:stretch/>
        </p:blipFill>
        <p:spPr>
          <a:xfrm>
            <a:off x="720" y="-28800"/>
            <a:ext cx="9142560" cy="1647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Title 3"/>
          <p:cNvSpPr/>
          <p:nvPr/>
        </p:nvSpPr>
        <p:spPr>
          <a:xfrm>
            <a:off x="915480" y="180000"/>
            <a:ext cx="8228160" cy="11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4400" b="0" u="none" strike="noStrike">
                <a:solidFill>
                  <a:srgbClr val="EA7500"/>
                </a:solidFill>
                <a:effectLst/>
                <a:uFillTx/>
                <a:latin typeface="Calibri"/>
              </a:rPr>
              <a:t>Realizações da Sprint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1" name="PlaceHolder 1"/>
          <p:cNvSpPr>
            <a:spLocks noGrp="1"/>
          </p:cNvSpPr>
          <p:nvPr>
            <p:ph/>
          </p:nvPr>
        </p:nvSpPr>
        <p:spPr>
          <a:xfrm>
            <a:off x="411120" y="900000"/>
            <a:ext cx="8228160" cy="5059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0" algn="l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/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Embedding Provider OpenAI com factory pattern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Responsável: Implementador / Beto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Abstração EmbeddingProvider (base.py), implementação OpenAIEmbeddingProvider (openai_provider.py) e factory configurável via variável EMBEDDING_PROVIDER. Arquitetura preparada para troca de provider (ex: Ollama futuro) sem alterar código cliente.
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2" name=""/>
          <p:cNvPicPr/>
          <p:nvPr/>
        </p:nvPicPr>
        <p:blipFill>
          <a:blip r:embed="rId2"/>
          <a:stretch/>
        </p:blipFill>
        <p:spPr>
          <a:xfrm>
            <a:off x="720" y="-28800"/>
            <a:ext cx="9142560" cy="1647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Title 3"/>
          <p:cNvSpPr/>
          <p:nvPr/>
        </p:nvSpPr>
        <p:spPr>
          <a:xfrm>
            <a:off x="915480" y="180000"/>
            <a:ext cx="8228160" cy="11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4400" b="0" u="none" strike="noStrike">
                <a:solidFill>
                  <a:srgbClr val="EA7500"/>
                </a:solidFill>
                <a:effectLst/>
                <a:uFillTx/>
                <a:latin typeface="Calibri"/>
              </a:rPr>
              <a:t>Realizações da Sprint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1" name="PlaceHolder 1"/>
          <p:cNvSpPr>
            <a:spLocks noGrp="1"/>
          </p:cNvSpPr>
          <p:nvPr>
            <p:ph/>
          </p:nvPr>
        </p:nvSpPr>
        <p:spPr>
          <a:xfrm>
            <a:off x="411120" y="900000"/>
            <a:ext cx="8228160" cy="5059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0" algn="l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/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Configuração dinâmica do RAG via API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Responsável: Implementador / Beto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Endpoint GET/PATCH /api/config/rag para controle em tempo real de RAG_ENABLED, QA_ENABLED, QA_SCORE_MINIMO, RAG_SCORE_MINIMO sem restart do backend. Persistência em memória (volátil por sessão).
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2" name=""/>
          <p:cNvPicPr/>
          <p:nvPr/>
        </p:nvPicPr>
        <p:blipFill>
          <a:blip r:embed="rId2"/>
          <a:stretch/>
        </p:blipFill>
        <p:spPr>
          <a:xfrm>
            <a:off x="720" y="-28800"/>
            <a:ext cx="9142560" cy="1647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Title 3"/>
          <p:cNvSpPr/>
          <p:nvPr/>
        </p:nvSpPr>
        <p:spPr>
          <a:xfrm>
            <a:off x="915480" y="180000"/>
            <a:ext cx="8228160" cy="11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4400" b="0" u="none" strike="noStrike">
                <a:solidFill>
                  <a:srgbClr val="EA7500"/>
                </a:solidFill>
                <a:effectLst/>
                <a:uFillTx/>
                <a:latin typeface="Calibri"/>
              </a:rPr>
              <a:t>Realizações da Sprint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1" name="PlaceHolder 1"/>
          <p:cNvSpPr>
            <a:spLocks noGrp="1"/>
          </p:cNvSpPr>
          <p:nvPr>
            <p:ph/>
          </p:nvPr>
        </p:nvSpPr>
        <p:spPr>
          <a:xfrm>
            <a:off x="411120" y="900000"/>
            <a:ext cx="8228160" cy="5059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0" algn="l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/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Modal de Reprovação com criação de rascunho Q&amp;A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Responsável: Implementador / Beto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Extensão do modal Reprovar em AcompanhamentoPage: seção opcional para criar novo par Q&amp;A a partir da mensagem reprovada. Pergunta pré-preenchida com a mensagem anterior do cliente (editável), select de contexto, campo resposta correta. Antes de salvar, verifica pares pendentes similares e exige confirmação (anti-duplicata). Par criado como rascunho (ativo=true, aprovado=false) para revisão na Base Q&amp;A.
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2" name=""/>
          <p:cNvPicPr/>
          <p:nvPr/>
        </p:nvPicPr>
        <p:blipFill>
          <a:blip r:embed="rId2"/>
          <a:stretch/>
        </p:blipFill>
        <p:spPr>
          <a:xfrm>
            <a:off x="720" y="-28800"/>
            <a:ext cx="9142560" cy="1647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Title 3"/>
          <p:cNvSpPr/>
          <p:nvPr/>
        </p:nvSpPr>
        <p:spPr>
          <a:xfrm>
            <a:off x="915480" y="180000"/>
            <a:ext cx="8228160" cy="11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4400" b="0" u="none" strike="noStrike">
                <a:solidFill>
                  <a:srgbClr val="EA7500"/>
                </a:solidFill>
                <a:effectLst/>
                <a:uFillTx/>
                <a:latin typeface="Calibri"/>
              </a:rPr>
              <a:t>Realizações da Sprint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1" name="PlaceHolder 1"/>
          <p:cNvSpPr>
            <a:spLocks noGrp="1"/>
          </p:cNvSpPr>
          <p:nvPr>
            <p:ph/>
          </p:nvPr>
        </p:nvSpPr>
        <p:spPr>
          <a:xfrm>
            <a:off x="411120" y="900000"/>
            <a:ext cx="8228160" cy="5059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0" algn="l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/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Bug fix — mensagem reprovada permanecia pendente na UI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Responsável: Implementador / Beto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Correção no endpoint POST /api/mensagens/{id}/reprovar: setava comentário mas não preenchia aprovador_id e timestamp_aprovacao. A propriedade pendente_aprovacao (calculada) dependia de aprovador_id=None para mensagens de origem system, fazendo a mensagem permanecer pendente indefinidamente após reprovação.
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2" name=""/>
          <p:cNvPicPr/>
          <p:nvPr/>
        </p:nvPicPr>
        <p:blipFill>
          <a:blip r:embed="rId2"/>
          <a:stretch/>
        </p:blipFill>
        <p:spPr>
          <a:xfrm>
            <a:off x="720" y="-28800"/>
            <a:ext cx="9142560" cy="1647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Title 3"/>
          <p:cNvSpPr/>
          <p:nvPr/>
        </p:nvSpPr>
        <p:spPr>
          <a:xfrm>
            <a:off x="915480" y="180000"/>
            <a:ext cx="8228160" cy="11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4400" b="0" u="none" strike="noStrike">
                <a:solidFill>
                  <a:srgbClr val="EA7500"/>
                </a:solidFill>
                <a:effectLst/>
                <a:uFillTx/>
                <a:latin typeface="Calibri"/>
              </a:rPr>
              <a:t>Realizações da Sprint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1" name="PlaceHolder 1"/>
          <p:cNvSpPr>
            <a:spLocks noGrp="1"/>
          </p:cNvSpPr>
          <p:nvPr>
            <p:ph/>
          </p:nvPr>
        </p:nvSpPr>
        <p:spPr>
          <a:xfrm>
            <a:off x="411120" y="900000"/>
            <a:ext cx="8228160" cy="5059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0" algn="l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/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Diretriz D05 — Rotas estáticas antes de dinâmicas no FastAPI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Responsável: QA Engineer / Implementador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Registrada após bug 422 em /api/negociacoes/ativas causado por rota dinâmica /{id} declarada antes da rota estática /ativas. Diretriz adicionada ao harness em diretrizes.md.
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2" name=""/>
          <p:cNvPicPr/>
          <p:nvPr/>
        </p:nvPicPr>
        <p:blipFill>
          <a:blip r:embed="rId2"/>
          <a:stretch/>
        </p:blipFill>
        <p:spPr>
          <a:xfrm>
            <a:off x="720" y="-28800"/>
            <a:ext cx="9142560" cy="1647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Title 3"/>
          <p:cNvSpPr/>
          <p:nvPr/>
        </p:nvSpPr>
        <p:spPr>
          <a:xfrm>
            <a:off x="915480" y="180000"/>
            <a:ext cx="8228160" cy="11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4400" b="0" u="none" strike="noStrike">
                <a:solidFill>
                  <a:srgbClr val="EA7500"/>
                </a:solidFill>
                <a:effectLst/>
                <a:uFillTx/>
                <a:latin typeface="Calibri"/>
              </a:rPr>
              <a:t>Realizações da Sprint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1" name="PlaceHolder 1"/>
          <p:cNvSpPr>
            <a:spLocks noGrp="1"/>
          </p:cNvSpPr>
          <p:nvPr>
            <p:ph/>
          </p:nvPr>
        </p:nvSpPr>
        <p:spPr>
          <a:xfrm>
            <a:off x="411120" y="900000"/>
            <a:ext cx="8228160" cy="5059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0" algn="l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/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Diretriz D06 — Checks de QA executáveis via @registrar_check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Responsável: QA Engineer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Formalização da arquitetura de checks executáveis: registry global com decorator @registrar_check, severidades (error/warning/info), escopos (sempre/pre-commit/release). Script scripts/qa_check.py + integração pre-commit. Diretrizes D05 e D06 adicionadas ao harness.
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2" name=""/>
          <p:cNvPicPr/>
          <p:nvPr/>
        </p:nvPicPr>
        <p:blipFill>
          <a:blip r:embed="rId2"/>
          <a:stretch/>
        </p:blipFill>
        <p:spPr>
          <a:xfrm>
            <a:off x="720" y="-28800"/>
            <a:ext cx="9142560" cy="1647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Title 3"/>
          <p:cNvSpPr/>
          <p:nvPr/>
        </p:nvSpPr>
        <p:spPr>
          <a:xfrm>
            <a:off x="915480" y="180000"/>
            <a:ext cx="8228160" cy="11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4400" b="0" u="none" strike="noStrike">
                <a:solidFill>
                  <a:srgbClr val="EA7500"/>
                </a:solidFill>
                <a:effectLst/>
                <a:uFillTx/>
                <a:latin typeface="Calibri"/>
              </a:rPr>
              <a:t>Realizações da Sprint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1" name="PlaceHolder 1"/>
          <p:cNvSpPr>
            <a:spLocks noGrp="1"/>
          </p:cNvSpPr>
          <p:nvPr>
            <p:ph/>
          </p:nvPr>
        </p:nvSpPr>
        <p:spPr>
          <a:xfrm>
            <a:off x="411120" y="900000"/>
            <a:ext cx="8228160" cy="5059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0" algn="l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/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Análise estratégica — Agentes vs Skills vs Harness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Responsável: Arquiteto de Sistemas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Documento analise_agentes_vs_skills_vs_harness.md avaliando as três abordagens de governança de IA para desenvolvimento. Conclusão: harness (AGENTS.md + diretrizes.md) é o mecanismo mais efetivo; skills executáveis têm melhor ROI; classes Python de agentes são subutilizadas frente ao custo de manutenção.
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2" name=""/>
          <p:cNvPicPr/>
          <p:nvPr/>
        </p:nvPicPr>
        <p:blipFill>
          <a:blip r:embed="rId2"/>
          <a:stretch/>
        </p:blipFill>
        <p:spPr>
          <a:xfrm>
            <a:off x="720" y="-28800"/>
            <a:ext cx="9142560" cy="1647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Title 3"/>
          <p:cNvSpPr/>
          <p:nvPr/>
        </p:nvSpPr>
        <p:spPr>
          <a:xfrm>
            <a:off x="915480" y="180000"/>
            <a:ext cx="8228160" cy="11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4400" b="0" u="none" strike="noStrike">
                <a:solidFill>
                  <a:srgbClr val="EA7500"/>
                </a:solidFill>
                <a:effectLst/>
                <a:uFillTx/>
                <a:latin typeface="Calibri"/>
              </a:rPr>
              <a:t>Realizações da Sprint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1" name="PlaceHolder 1"/>
          <p:cNvSpPr>
            <a:spLocks noGrp="1"/>
          </p:cNvSpPr>
          <p:nvPr>
            <p:ph/>
          </p:nvPr>
        </p:nvSpPr>
        <p:spPr>
          <a:xfrm>
            <a:off x="411120" y="900000"/>
            <a:ext cx="8228160" cy="5059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0" algn="l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/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Gerador de artefatos de sprint report V01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Responsável: Gerente de Projetos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Gera artefatos de sprint report a partir de yaml com dados da Sprint, que por sua vez são gerados automaticamente pelo agente gerente de projeto.
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2" name=""/>
          <p:cNvPicPr/>
          <p:nvPr/>
        </p:nvPicPr>
        <p:blipFill>
          <a:blip r:embed="rId2"/>
          <a:stretch/>
        </p:blipFill>
        <p:spPr>
          <a:xfrm>
            <a:off x="720" y="-28800"/>
            <a:ext cx="9142560" cy="1647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Title 3"/>
          <p:cNvSpPr/>
          <p:nvPr/>
        </p:nvSpPr>
        <p:spPr>
          <a:xfrm>
            <a:off x="915480" y="180000"/>
            <a:ext cx="8228160" cy="11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4400" b="0" u="none" strike="noStrike">
                <a:solidFill>
                  <a:srgbClr val="EA7500"/>
                </a:solidFill>
                <a:effectLst/>
                <a:uFillTx/>
                <a:latin typeface="Calibri"/>
              </a:rPr>
              <a:t>Realizações da Sprint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2815</TotalTime>
  <Application>LibreOffice/26.2.3.2$Windows_X86_64 LibreOffice_project/70e089b17412e4cb7773e41413306b17a2328c34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pt-BR</dc:language>
  <cp:lastModifiedBy/>
  <dcterms:modified xsi:type="dcterms:W3CDTF">2026-05-15T07:55:53Z</dcterms:modified>
  <cp:revision>41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