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66" r:id="rId5"/>
    <p:sldId id="267" r:id="rId6"/>
    <p:sldId id="280" r:id="rId29"/>
    <p:sldId id="281" r:id="rId30"/>
    <p:sldId id="282" r:id="rId31"/>
    <p:sldId id="260" r:id="rId8"/>
    <p:sldId id="262" r:id="rId9"/>
    <p:sldId id="263" r:id="rId10"/>
    <p:sldId id="279" r:id="rId28"/>
    <p:sldId id="264" r:id="rId11"/>
    <p:sldId id="265" r:id="rId12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</p:sldIdLst>
  <p:sldSz cx="9144000" cy="6858000" type="screen4x3"/>
  <p:notesSz cx="7559675" cy="106918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156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Padrã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0960" cy="146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B7A5142-31BB-49EC-AAA7-3346BFC3A7A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160" cy="397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160" cy="4524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C84D38D-BCB8-4780-A7C9-DCDD4F99D23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5960" cy="585000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8480" cy="585000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F18AB68-CB0F-4F42-A469-FC53B7EBE61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16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5434C64-A4E5-4E8F-899D-DAB7305740E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0960" cy="136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0960" cy="1498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D45A7FA-0BA9-45FA-8E73-BB2151AA18B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04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04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D9D8B24-0F54-4ACA-A15F-ACA4DAEB669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8840" cy="63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8840" cy="394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0280" cy="63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0280" cy="394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F4C3921-8FF7-45A9-AB77-95B12FFBC96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407FD2B-2D84-4D7C-9CB3-98EAA734F7E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47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BA5061C-1421-48F7-B415-CE6A82B775D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6720" cy="116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200" cy="585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6720" cy="468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1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53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5229EA1-40D4-4C97-BAF5-305353E6425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4960" cy="56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</a:p>
          <a:p>
            <a:pPr marL="4572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</a:p>
          <a:p>
            <a:pPr marL="9144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</a:p>
          <a:p>
            <a:pPr marL="13716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</a:p>
          <a:p>
            <a:pPr marL="18288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4960" cy="80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7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59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3C6E4A9-E911-4567-A0FD-350978F4014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0960" cy="146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61" name="PlaceHolder 2"/>
          <p:cNvSpPr>
            <a:spLocks noGrp="1"/>
          </p:cNvSpPr>
          <p:nvPr>
            <p:ph type="dt" idx="34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ftr" idx="35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63" name="PlaceHolder 4"/>
          <p:cNvSpPr>
            <a:spLocks noGrp="1"/>
          </p:cNvSpPr>
          <p:nvPr>
            <p:ph type="sldNum" idx="36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DA3C00C-0118-442C-A3B5-7916CE484EF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160" cy="397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685800" y="1951560"/>
            <a:ext cx="7770960" cy="146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Sprint Review</a:t>
            </a:r>
          </a:p>
        </p:txBody>
      </p:sp>
      <p:sp>
        <p:nvSpPr>
          <p:cNvPr id="66" name="PlaceHolder 2"/>
          <p:cNvSpPr>
            <a:spLocks noGrp="1"/>
          </p:cNvSpPr>
          <p:nvPr>
            <p:ph type="subTitle"/>
          </p:nvPr>
        </p:nvSpPr>
        <p:spPr>
          <a:xfrm>
            <a:off x="1371600" y="3420000"/>
            <a:ext cx="6399360" cy="2773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Agente de vendas </a:t>
            </a:r>
            <a:r>
              <a:rPr lang="pt-BR" sz="3200" b="0" u="none" strike="noStrike" dirty="0" err="1">
                <a:solidFill>
                  <a:schemeClr val="tx1"/>
                </a:solidFill>
                <a:effectLst/>
                <a:uFillTx/>
                <a:latin typeface="Calibri"/>
              </a:rPr>
              <a:t>Inforrel</a:t>
            </a: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 </a:t>
            </a:r>
            <a:endParaRPr lang="pt-BR" sz="32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Sprint 2</a:t>
            </a:r>
            <a:r>
              <a:rPr lang="pt-BR" sz="3200" b="0" u="none" strike="noStrike" dirty="0" err="1">
                <a:solidFill>
                  <a:schemeClr val="tx1"/>
                </a:solidFill>
                <a:effectLst/>
                <a:uFillTx/>
                <a:latin typeface="Calibri"/>
              </a:rPr>
              <a:t/>
            </a: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 </a:t>
            </a:r>
            <a:endParaRPr lang="pt-BR" sz="32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27/04/2026</a:t>
            </a:r>
            <a:r>
              <a:rPr lang="pt-BR" sz="3200" b="0" u="none" strike="noStrike" dirty="0" err="1">
                <a:solidFill>
                  <a:schemeClr val="tx1"/>
                </a:solidFill>
                <a:effectLst/>
                <a:uFillTx/>
                <a:latin typeface="Calibri"/>
              </a:rPr>
              <a:t/>
            </a: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 - 10/06/2026</a:t>
            </a:r>
            <a:r>
              <a:rPr lang="pt-BR" sz="3200" b="0" u="none" strike="noStrike" dirty="0" err="1">
                <a:solidFill>
                  <a:schemeClr val="tx1"/>
                </a:solidFill>
                <a:effectLst/>
                <a:uFillTx/>
                <a:latin typeface="Calibri"/>
              </a:rPr>
              <a:t/>
            </a: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 </a:t>
            </a:r>
            <a:endParaRPr lang="pt-BR" sz="32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45</a:t>
            </a:r>
            <a:r>
              <a:rPr lang="pt-BR" sz="3200" b="0" u="none" strike="noStrike" dirty="0" err="1">
                <a:solidFill>
                  <a:schemeClr val="tx1"/>
                </a:solidFill>
                <a:effectLst/>
                <a:uFillTx/>
                <a:latin typeface="Calibri"/>
              </a:rPr>
              <a:t/>
            </a: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 dias</a:t>
            </a:r>
            <a:endParaRPr lang="pt-BR" sz="32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</p:txBody>
      </p:sp>
      <p:pic>
        <p:nvPicPr>
          <p:cNvPr id="67" name="Imagem 66"/>
          <p:cNvPicPr/>
          <p:nvPr/>
        </p:nvPicPr>
        <p:blipFill>
          <a:blip r:embed="rId2"/>
          <a:stretch/>
        </p:blipFill>
        <p:spPr>
          <a:xfrm>
            <a:off x="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/>
          </p:nvPr>
        </p:nvSpPr>
        <p:spPr>
          <a:xfrm>
            <a:off x="457200" y="1558440"/>
            <a:ext cx="822816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Continuar o desenvolvimento do sistema de RAG e Q&amp;A Pairs.</a:t>
            </a:r>
            <a:r>
              <a:rPr lang="en-US" sz="28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8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Implementando a busca por chunks de produto e a camada curada sobre o RAG.</a:t>
            </a:r>
            <a:r>
              <a:rPr lang="en-US" sz="28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8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9" name="Imagem 68"/>
          <p:cNvPicPr/>
          <p:nvPr/>
        </p:nvPicPr>
        <p:blipFill>
          <a:blip r:embed="rId2"/>
          <a:stretch/>
        </p:blipFill>
        <p:spPr>
          <a:xfrm>
            <a:off x="36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Title 2"/>
          <p:cNvSpPr/>
          <p:nvPr/>
        </p:nvSpPr>
        <p:spPr>
          <a:xfrm>
            <a:off x="91512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Objetivo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{{</a:t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SLIDE:feito</a:t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}}</a:t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{{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feito.titulo</a:t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}}</a:t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{{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feito</a:t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>.req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}}</a:t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{{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feito</a:t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>.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cobertura_req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}}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4C28B-5E15-33C1-CEA6-6C65A20D8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>
            <a:extLst>
              <a:ext uri="{FF2B5EF4-FFF2-40B4-BE49-F238E27FC236}">
                <a16:creationId xmlns:a16="http://schemas.microsoft.com/office/drawing/2014/main" id="{D3379948-67E2-0B77-A34C-D977D0B3DB00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457919" y="1618920"/>
            <a:ext cx="8685361" cy="505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5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Cobertura</a:t>
            </a:r>
            <a:r>
              <a:rPr lang="en-US" sz="25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do sprint</a:t>
            </a:r>
            <a:r>
              <a:rPr lang="en-US" sz="2500" b="1" dirty="0">
                <a:solidFill>
                  <a:schemeClr val="tx2"/>
                </a:solidFill>
              </a:rPr>
              <a:t>: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1" dirty="0">
                <a:solidFill>
                  <a:schemeClr val="dk1"/>
                </a:solidFill>
                <a:latin typeface="Calibri"/>
                <a:ea typeface="Microsoft YaHei"/>
              </a:rPr>
              <a:t>Anterior à esse sprint</a:t>
            </a:r>
            <a:r>
              <a:rPr lang="en-US" sz="2400" dirty="0">
                <a:solidFill>
                  <a:schemeClr val="dk1"/>
                </a:solidFill>
                <a:latin typeface="Calibri"/>
                <a:ea typeface="Microsoft YaHei"/>
              </a:rPr>
              <a:t>: ~22%</a:t>
            </a:r>
            <a:r>
              <a:rPr lang="en-US" sz="24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4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1" dirty="0" err="1">
                <a:solidFill>
                  <a:schemeClr val="dk1"/>
                </a:solidFill>
                <a:latin typeface="Calibri"/>
                <a:ea typeface="Microsoft YaHei"/>
              </a:rPr>
              <a:t>Após</a:t>
            </a:r>
            <a:r>
              <a:rPr lang="en-US" sz="2400" b="1" dirty="0">
                <a:solidFill>
                  <a:schemeClr val="dk1"/>
                </a:solidFill>
                <a:latin typeface="Calibri"/>
                <a:ea typeface="Microsoft YaHei"/>
              </a:rPr>
              <a:t> esse sprint</a:t>
            </a:r>
            <a:r>
              <a:rPr lang="en-US" sz="2400" dirty="0">
                <a:solidFill>
                  <a:schemeClr val="dk1"/>
                </a:solidFill>
                <a:latin typeface="Calibri"/>
                <a:ea typeface="Microsoft YaHei"/>
              </a:rPr>
              <a:t>: ~38%</a:t>
            </a:r>
            <a:r>
              <a:rPr lang="en-US" sz="24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4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1" dirty="0" err="1">
                <a:solidFill>
                  <a:schemeClr val="dk1"/>
                </a:solidFill>
                <a:latin typeface="Calibri"/>
                <a:ea typeface="Microsoft YaHei"/>
              </a:rPr>
              <a:t>Diferença</a:t>
            </a:r>
            <a:r>
              <a:rPr lang="en-US" sz="2400" dirty="0">
                <a:solidFill>
                  <a:schemeClr val="dk1"/>
                </a:solidFill>
                <a:latin typeface="Calibri"/>
                <a:ea typeface="Microsoft YaHei"/>
              </a:rPr>
              <a:t>: +16</a:t>
            </a:r>
            <a:r>
              <a:rPr lang="en-US" sz="24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40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400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4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4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343080" indent="-343080" algn="l"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  <a:ea typeface="Microsoft YaHei"/>
              </a:rPr>
              <a:t>Avanço</a:t>
            </a:r>
            <a:r>
              <a:rPr lang="en-US" sz="2500" b="1" u="none" strike="noStrike" dirty="0">
                <a:solidFill>
                  <a:schemeClr val="tx2"/>
                </a:solidFill>
                <a:effectLst/>
                <a:uFillTx/>
                <a:latin typeface="Calibri"/>
                <a:ea typeface="Microsoft YaHei"/>
              </a:rPr>
              <a:t> de </a:t>
            </a:r>
            <a:r>
              <a:rPr lang="en-US" sz="25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500" b="1" u="none" strike="noStrike" dirty="0">
                <a:solidFill>
                  <a:schemeClr val="tx2"/>
                </a:solidFill>
                <a:effectLst/>
                <a:uFillTx/>
                <a:latin typeface="Calibri"/>
                <a:ea typeface="Microsoft YaHei"/>
              </a:rPr>
              <a:t>: 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1" dirty="0">
                <a:solidFill>
                  <a:schemeClr val="dk1"/>
                </a:solidFill>
                <a:latin typeface="Calibri"/>
                <a:ea typeface="Microsoft YaHei"/>
              </a:rPr>
              <a:t>Total de </a:t>
            </a:r>
            <a:r>
              <a:rPr lang="en-US" sz="24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requisitos</a:t>
            </a:r>
            <a:r>
              <a:rPr lang="en-US" sz="24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400" b="1" dirty="0" err="1">
                <a:solidFill>
                  <a:schemeClr val="dk1"/>
                </a:solidFill>
                <a:latin typeface="Calibri"/>
                <a:ea typeface="Microsoft YaHei"/>
              </a:rPr>
              <a:t>avançados</a:t>
            </a:r>
            <a:r>
              <a:rPr lang="en-US" sz="2400" dirty="0">
                <a:solidFill>
                  <a:schemeClr val="dk1"/>
                </a:solidFill>
                <a:latin typeface="Calibri"/>
                <a:ea typeface="Microsoft YaHei"/>
              </a:rPr>
              <a:t>: 11</a:t>
            </a:r>
            <a:r>
              <a:rPr lang="en-US" sz="24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4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1" dirty="0">
                <a:solidFill>
                  <a:schemeClr val="dk1"/>
                </a:solidFill>
                <a:latin typeface="Calibri"/>
                <a:ea typeface="Microsoft YaHei"/>
              </a:rPr>
              <a:t>Total de </a:t>
            </a:r>
            <a:r>
              <a:rPr lang="en-US" sz="24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requisitos</a:t>
            </a:r>
            <a:r>
              <a:rPr lang="en-US" sz="24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400" b="1" dirty="0" err="1">
                <a:solidFill>
                  <a:schemeClr val="dk1"/>
                </a:solidFill>
                <a:latin typeface="Calibri"/>
                <a:ea typeface="Microsoft YaHei"/>
              </a:rPr>
              <a:t>iniciados</a:t>
            </a:r>
            <a:r>
              <a:rPr lang="en-US" sz="2400" dirty="0">
                <a:solidFill>
                  <a:schemeClr val="dk1"/>
                </a:solidFill>
                <a:latin typeface="Calibri"/>
                <a:ea typeface="Microsoft YaHei"/>
              </a:rPr>
              <a:t>: 5</a:t>
            </a:r>
            <a:r>
              <a:rPr lang="en-US" sz="24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4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endParaRPr lang="en-US" sz="2600" dirty="0">
              <a:solidFill>
                <a:schemeClr val="dk1"/>
              </a:solidFill>
              <a:latin typeface="Calibri"/>
              <a:ea typeface="Microsoft YaHei"/>
            </a:endParaRPr>
          </a:p>
        </p:txBody>
      </p:sp>
      <p:pic>
        <p:nvPicPr>
          <p:cNvPr id="72" name="Imagem 71">
            <a:extLst>
              <a:ext uri="{FF2B5EF4-FFF2-40B4-BE49-F238E27FC236}">
                <a16:creationId xmlns:a16="http://schemas.microsoft.com/office/drawing/2014/main" id="{BF3D210A-FD0E-6D5A-2611-8E55A48071B6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>
            <a:extLst>
              <a:ext uri="{FF2B5EF4-FFF2-40B4-BE49-F238E27FC236}">
                <a16:creationId xmlns:a16="http://schemas.microsoft.com/office/drawing/2014/main" id="{C0C8C7D4-F9F0-D549-E869-DD346D086A8F}"/>
              </a:ext>
            </a:extLst>
          </p:cNvPr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Cobertura</a:t>
            </a:r>
            <a:r>
              <a:rPr lang="en-US" sz="4400" b="0" u="none" strike="noStrike" dirty="0">
                <a:solidFill>
                  <a:srgbClr val="EA7500"/>
                </a:solidFill>
                <a:effectLst/>
                <a:uFillTx/>
                <a:latin typeface="Calibri"/>
              </a:rPr>
              <a:t> da Sprint</a:t>
            </a:r>
            <a:endParaRPr lang="pt-BR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571791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B98D9-C285-B8FA-C00A-45C2E2F4E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Imagem 71">
            <a:extLst>
              <a:ext uri="{FF2B5EF4-FFF2-40B4-BE49-F238E27FC236}">
                <a16:creationId xmlns:a16="http://schemas.microsoft.com/office/drawing/2014/main" id="{D7EB8217-4646-CFB8-CB0D-BF2058F75E4A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>
            <a:extLst>
              <a:ext uri="{FF2B5EF4-FFF2-40B4-BE49-F238E27FC236}">
                <a16:creationId xmlns:a16="http://schemas.microsoft.com/office/drawing/2014/main" id="{62B8FAD1-9B65-A1E2-1291-3887854C0897}"/>
              </a:ext>
            </a:extLst>
          </p:cNvPr>
          <p:cNvSpPr/>
          <p:nvPr/>
        </p:nvSpPr>
        <p:spPr>
          <a:xfrm>
            <a:off x="1903750" y="180000"/>
            <a:ext cx="7239889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Evolução</a:t>
            </a:r>
            <a:r>
              <a:rPr lang="en-US" sz="4400" b="0" u="none" strike="noStrike" dirty="0">
                <a:solidFill>
                  <a:srgbClr val="EA7500"/>
                </a:solidFill>
                <a:effectLst/>
                <a:uFillTx/>
                <a:latin typeface="Calibri"/>
              </a:rPr>
              <a:t> de </a:t>
            </a: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desenvolvimento</a:t>
            </a:r>
            <a:endParaRPr lang="en-US" sz="4400" b="0" u="none" strike="noStrike" dirty="0">
              <a:solidFill>
                <a:srgbClr val="EA7500"/>
              </a:solidFill>
              <a:effectLst/>
              <a:uFillTx/>
              <a:latin typeface="Calibri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por</a:t>
            </a:r>
            <a:r>
              <a:rPr lang="en-US" sz="4400" b="0" u="none" strike="noStrike" dirty="0">
                <a:solidFill>
                  <a:srgbClr val="EA7500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requisito</a:t>
            </a:r>
            <a:endParaRPr lang="pt-BR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" name="Picture 73" descr="grafico_cobertura_ponderada_sprint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19" y="1618920"/>
            <a:ext cx="8685361" cy="5059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10423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/>
          </p:nvPr>
        </p:nvSpPr>
        <p:spPr>
          <a:xfrm>
            <a:off x="457200" y="1618920"/>
            <a:ext cx="8228160" cy="505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sz="2800" dirty="0"/>
              <a:t>{{</a:t>
            </a:r>
            <a:r>
              <a:rPr sz="2800" dirty="0" err="1"/>
              <a:t>SLIDE:riscos_e_impedimentos</a:t>
            </a:r>
            <a:r>
              <a:rPr sz="2800" dirty="0"/>
              <a:t>}}</a:t>
            </a: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indent="-457200" algn="l">
              <a:spcBef>
                <a:spcPts val="641"/>
              </a:spcBef>
              <a:buClr>
                <a:srgbClr val="000000"/>
              </a:buClr>
              <a:buFont typeface="+mj-lt"/>
              <a:buAutoNum type="arabicPeriod"/>
            </a:pPr>
            <a:r>
              <a:rPr lang="en-US" sz="22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{{</a:t>
            </a:r>
            <a:r>
              <a:rPr lang="pt-BR" sz="2200" b="1" dirty="0" err="1">
                <a:solidFill>
                  <a:schemeClr val="tx2"/>
                </a:solidFill>
              </a:rPr>
              <a:t>riscos_e_impedimentos.nome</a:t>
            </a:r>
            <a:r>
              <a:rPr lang="en-US" sz="22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}}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Severidade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{{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>riscos_e_impedimentos.tipo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}}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Motivo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{{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>riscos_e_impedimentos.motivo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}}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Ação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{{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>riscos_e_impedimentos.acao_esperada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}}</a:t>
            </a:r>
          </a:p>
        </p:txBody>
      </p:sp>
      <p:pic>
        <p:nvPicPr>
          <p:cNvPr id="75" name="Imagem 74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itle 4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dirty="0" err="1">
                <a:solidFill>
                  <a:srgbClr val="EA7500"/>
                </a:solidFill>
              </a:rPr>
              <a:t>Riscos</a:t>
            </a:r>
            <a:r>
              <a:rPr lang="en-US" sz="4400" dirty="0">
                <a:solidFill>
                  <a:srgbClr val="EA7500"/>
                </a:solidFill>
              </a:rPr>
              <a:t> e </a:t>
            </a:r>
            <a:r>
              <a:rPr lang="en-US" sz="4400" dirty="0" err="1">
                <a:solidFill>
                  <a:srgbClr val="EA7500"/>
                </a:solidFill>
              </a:rPr>
              <a:t>Impedimentos</a:t>
            </a:r>
            <a:endParaRPr lang="pt-BR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/>
          </p:nvPr>
        </p:nvSpPr>
        <p:spPr>
          <a:xfrm>
            <a:off x="457200" y="1530360"/>
            <a:ext cx="8542080" cy="514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Artefatos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criados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30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Pendências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resolvidas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6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Novas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pendências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4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Bugs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corrigidos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6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Total de Reports: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Reports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resolvidos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Novas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diretrizes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criadas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5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Pares de Q&amp;A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criados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9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Requisitos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atendidos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4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</p:txBody>
      </p:sp>
      <p:pic>
        <p:nvPicPr>
          <p:cNvPr id="78" name="Imagem 77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Title 5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Métricas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685800" y="1618920"/>
            <a:ext cx="7770960" cy="146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Próximo</a:t>
            </a:r>
            <a:r>
              <a:rPr lang="en-US" sz="40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Sprint</a:t>
            </a:r>
          </a:p>
        </p:txBody>
      </p:sp>
      <p:sp>
        <p:nvSpPr>
          <p:cNvPr id="84" name="PlaceHolder 2"/>
          <p:cNvSpPr>
            <a:spLocks noGrp="1"/>
          </p:cNvSpPr>
          <p:nvPr>
            <p:ph type="subTitle"/>
          </p:nvPr>
        </p:nvSpPr>
        <p:spPr>
          <a:xfrm>
            <a:off x="700790" y="3266640"/>
            <a:ext cx="7085160" cy="2773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>
              <a:spcBef>
                <a:spcPts val="64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lang="pt-BR" sz="2600" dirty="0"/>
              <a:t>Sprint 3</a:t>
            </a:r>
            <a:r>
              <a:rPr lang="pt-BR" sz="2600" dirty="0" err="1"/>
              <a:t/>
            </a:r>
            <a:r>
              <a:rPr lang="pt-BR" sz="2600" dirty="0"/>
              <a:t> </a:t>
            </a:r>
          </a:p>
          <a:p>
            <a:pPr marL="343080" indent="-343080" algn="l">
              <a:spcBef>
                <a:spcPts val="64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lang="pt-BR" sz="2600" dirty="0"/>
              <a:t>11/06/2026</a:t>
            </a:r>
            <a:r>
              <a:rPr lang="pt-BR" sz="2600" dirty="0" err="1"/>
              <a:t/>
            </a:r>
            <a:r>
              <a:rPr lang="pt-BR" sz="2600" dirty="0"/>
              <a:t> - 25/06/2026</a:t>
            </a:r>
            <a:r>
              <a:rPr lang="pt-BR" sz="2600" dirty="0" err="1"/>
              <a:t/>
            </a:r>
            <a:r>
              <a:rPr lang="pt-BR" sz="2600" dirty="0"/>
              <a:t> </a:t>
            </a:r>
          </a:p>
          <a:p>
            <a:pPr marL="343080" indent="-343080" algn="l">
              <a:spcBef>
                <a:spcPts val="64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lang="pt-BR" sz="2600" dirty="0"/>
              <a:t>15</a:t>
            </a:r>
            <a:r>
              <a:rPr lang="pt-BR" sz="2600" dirty="0" err="1"/>
              <a:t/>
            </a:r>
            <a:r>
              <a:rPr lang="pt-BR" sz="2600" dirty="0"/>
              <a:t> dias</a:t>
            </a:r>
          </a:p>
        </p:txBody>
      </p:sp>
      <p:pic>
        <p:nvPicPr>
          <p:cNvPr id="85" name="Imagem 84"/>
          <p:cNvPicPr/>
          <p:nvPr/>
        </p:nvPicPr>
        <p:blipFill>
          <a:blip r:embed="rId2"/>
          <a:stretch/>
        </p:blipFill>
        <p:spPr>
          <a:xfrm>
            <a:off x="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Title 1"/>
          <p:cNvSpPr/>
          <p:nvPr/>
        </p:nvSpPr>
        <p:spPr>
          <a:xfrm>
            <a:off x="915120" y="18036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Planejamento da </a:t>
            </a:r>
            <a:br>
              <a:rPr sz="4400"/>
            </a:b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próxima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subTitle"/>
          </p:nvPr>
        </p:nvSpPr>
        <p:spPr>
          <a:xfrm>
            <a:off x="799919" y="1828081"/>
            <a:ext cx="7857383" cy="4690706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>REQ-002 — Executar backlog formal (T-01 a T-09): categorias 1-4, fallback condicional, captura adaptativa (alta)</a:t>
            </a:r>
            <a:r>
              <a:rPr lang="pt-BR" sz="24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pt-BR" sz="20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>REQ-016 — Concluir migração Negociação→Atendimento: T-A2 (refactor models/services), T-A11 (UI frontend) (alta)</a:t>
            </a:r>
            <a:r>
              <a:rPr lang="pt-BR" sz="24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pt-BR" sz="20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>REQ-004 — Escalonamento para Humano completo (alta)</a:t>
            </a:r>
            <a:r>
              <a:rPr lang="pt-BR" sz="24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pt-BR" sz="20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>Cadastro de Tipos de Produto e Produtos (REQ-002) (alta)</a:t>
            </a:r>
            <a:r>
              <a:rPr lang="pt-BR" sz="24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pt-BR" sz="20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>REQ-013 — Workflow de aprovação de pares Q&amp;A (notificação + histórico de revisões) (media)</a:t>
            </a:r>
            <a:r>
              <a:rPr lang="pt-BR" sz="24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pt-BR" sz="20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>REQ-007 — Análise de sentimento e detecção de mal humor (media)</a:t>
            </a:r>
            <a:r>
              <a:rPr lang="pt-BR" sz="24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pt-BR" sz="20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</p:txBody>
      </p:sp>
      <p:pic>
        <p:nvPicPr>
          <p:cNvPr id="88" name="Imagem 87"/>
          <p:cNvPicPr/>
          <p:nvPr/>
        </p:nvPicPr>
        <p:blipFill>
          <a:blip r:embed="rId2"/>
          <a:stretch/>
        </p:blipFill>
        <p:spPr>
          <a:xfrm>
            <a:off x="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Title 12"/>
          <p:cNvSpPr/>
          <p:nvPr/>
        </p:nvSpPr>
        <p:spPr>
          <a:xfrm>
            <a:off x="915120" y="18036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Planejamento da </a:t>
            </a:r>
            <a:br>
              <a:rPr sz="4400"/>
            </a:b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próxima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/>
          </p:nvPr>
        </p:nvSpPr>
        <p:spPr>
          <a:xfrm>
            <a:off x="457200" y="1321560"/>
            <a:ext cx="8228160" cy="5536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Avançar REQ-002 (fluxo conversacional guiado) com base no backlog formal de 11 tarefas.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Concluir migração REQ-016 (renomeação Negociação→Atendimento em modelos, schemas, serviços e frontend).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Cadastro de tipos de produtos e produtos (REQ-002).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1" name="Imagem 90"/>
          <p:cNvPicPr/>
          <p:nvPr/>
        </p:nvPicPr>
        <p:blipFill>
          <a:blip r:embed="rId2"/>
          <a:stretch/>
        </p:blipFill>
        <p:spPr>
          <a:xfrm>
            <a:off x="36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" name="Title 10"/>
          <p:cNvSpPr/>
          <p:nvPr/>
        </p:nvSpPr>
        <p:spPr>
          <a:xfrm>
            <a:off x="1563328" y="180000"/>
            <a:ext cx="7579951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Objetivo</a:t>
            </a:r>
            <a:r>
              <a:rPr lang="en-US" sz="4400" b="0" u="none" strike="noStrike" dirty="0">
                <a:solidFill>
                  <a:srgbClr val="EA7500"/>
                </a:solidFill>
                <a:effectLst/>
                <a:uFillTx/>
                <a:latin typeface="Calibri"/>
              </a:rPr>
              <a:t> da </a:t>
            </a: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Próxima</a:t>
            </a:r>
            <a:r>
              <a:rPr lang="en-US" sz="4400" b="0" u="none" strike="noStrike" dirty="0">
                <a:solidFill>
                  <a:srgbClr val="EA7500"/>
                </a:solidFill>
                <a:effectLst/>
                <a:uFillTx/>
                <a:latin typeface="Calibri"/>
              </a:rPr>
              <a:t> Sprint</a:t>
            </a:r>
            <a:endParaRPr lang="pt-BR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REQ-001: Fluxo conversacional de confirmação dos dados (S/N)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REQ-001: Política de 3 tentativas + escalonamento em falhas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REQ-001: Instrumentação de NFRs (tempo, disponibilidade, falhas)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REQ-002: Fluxo adaptativo com lógica de próxima pergunta dinâmica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REQ-002: Validação de respostas e esclarecimento pontual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REQ-002: Identificar tipos de produto adicionais (câmera, roteador, software, cancela, assistência)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REQ-002: Identificar modelo do produto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REQ-002: Capturar endereço de entrega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REQ-002: Sumarização final dos dados coletados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REQ-002: Eco/confirmação dos dados extraídos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REQ-002: Regras específicas por produto (002.14 / 002.14A / 002.15)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REQ-002: Tratamento de ambiguidade (até 2 esclarecimentos)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REQ-002: Detecção de abandono de conversa (24h / 72h)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REQ-002: Reuso de CNPJ — regras de conflito/troca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REQ-003: Completar conteúdo da base (preços, prazos, instalação, compatibilidade)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REQ-003: Fallback de resposta insuficiente (1 clarificação + escalonar)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REQ-003: Devolver controle ao fluxo de qualificação após responder FAQ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REQ-003: Não acionar RAG durante qualificação dirigida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REQ-003: Envio de catálogo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REQ-003: Instrumentação de NFRs (tempo de resposta, concisão)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REQ-004: Notificação ao atendente via WhatsApp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REQ-004: Geração de resumo da conversa para humano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REQ-004: Gatilhos automáticos de escalonamento (insatisfação, baixa confiança, projeto complexo)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REQ-004: Pré-qualificação antes de escalar (004.5A)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REQ-004: Mensagem de transição ao cliente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REQ-004: Validar suspensão de respostas automáticas em todos os módulos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REQ-004: Instrumentação SLA + auditabilidade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REQ-005: Eventos de transição de estado (ator + motivo + timestamp)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REQ-005: Eventos de orçamento e de erros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REQ-005: Consulta/filtro de histórico por cliente/período/status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REQ-005: Imutabilidade do registro enforced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REQ-005: Política para dados sensíveis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REQ-006: Estados de orçamento batendo com REQ (rascunho/enviado/convertido/perdido)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REQ-006: Campo motivo para orçamentos perdidos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REQ-006: Endpoints + UI de atualização manual de status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REQ-006: Auditoria de autoria das alterações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REQ-006: Listagem filtrada por período/cliente/status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REQ-006: Tela de visualização consolidada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REQ-007: Classificação formal positivo/neutro/negativo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REQ-007: Persistência das classificações de sentimento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REQ-007: Flag de conversa crítica integrada ao escalonamento (REQ-004/REQ-005)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REQ-008: Webhook Twilio com idempotência e validação de assinatura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REQ-008: Envio outbound de mensagens via Twilio API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REQ-008: Tratamento de links e arquivos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REQ-008: Política de retry e registro de erros de envio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REQ-008: Auditoria de proteção dos segredos Twilio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REQ-009: Detecção de reclamação pós-venda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REQ-009: Identificação do orçamento por telefone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REQ-009: Confirmação com o cliente + escalonamento com contexto completo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REQ-010: Tela de listagem de orçamentos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REQ-010: Tela de detalhe do orçamento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REQ-010: Tela de escalonamentos consolidada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REQ-010: UI de atualização manual de status do orçamento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REQ-010: Filtros consolidados de histórico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REQ-011: Enum de 3 modos de execução (simulacao / conversa_controlada / execucao_normal)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REQ-011: Gate de envio Twilio condicionado ao modo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REQ-012: Histórico de transições do report (status + ator + timestamp)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REQ-012: Filtros adicionais na listagem de reports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REQ-012: Ação 'criar par Q&amp;A a partir do report' (integra REQ-013)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REQ-013: Criação de par Q&amp;A a partir de report (REQ-012)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REQ-013: Filtro por contexto na busca de pares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REQ-013: Auditoria do uso de pares Q&amp;A em ProcessamentoMensagem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REQ-013: Detecção de duplicatas na criação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REQ-013: Estatísticas de uso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REQ-014: Parâmetros Q&amp;A no PATCH /api/config/rag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REQ-014: Toggles *_enabled (ativar/desativar camadas individualmente)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REQ-014: Persistência das configurações entre reinícios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REQ-014: Histórico de alterações de configuração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REQ-014: Tela dedicada no painel administrativo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Q&amp;A v2: Extração automática de pares de conversas reais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Q&amp;A v2: Feedback loop — avaliação de respostas pelo operador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Q&amp;A v2: Importação em lote via CSV pelo frontend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Autenticação e autorização (JWT, roles admin/operador)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Suite de testes automatizados (backend + frontend) e cobertura mínima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Instrumentação geral de NFRs (latência, concorrência, observabilidade)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Documentação operacional / runbook de produção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Deploy em produção com domínio Inforrel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Sistema de notificações em tempo real (WebSocket/SSE)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Multi-tenancy da aplicação (arquitetura SaaS)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Integração com ERPs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7" name="PlaceHolder 1"/>
          <p:cNvSpPr>
            <a:spLocks noGrp="1"/>
          </p:cNvSpPr>
          <p:nvPr>
            <p:ph type="subTitle"/>
          </p:nvPr>
        </p:nvSpPr>
        <p:spPr>
          <a:xfrm>
            <a:off x="799919" y="1828081"/>
            <a:ext cx="7857383" cy="4690706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>REQ-006 — Rastreamento de orçamentos (media)</a:t>
            </a:r>
            <a:r>
              <a:rPr lang="pt-BR" sz="24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pt-BR" sz="20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</p:txBody>
      </p:sp>
      <p:pic>
        <p:nvPicPr>
          <p:cNvPr id="88" name="Imagem 87"/>
          <p:cNvPicPr/>
          <p:nvPr/>
        </p:nvPicPr>
        <p:blipFill>
          <a:blip r:embed="rId2"/>
          <a:stretch/>
        </p:blipFill>
        <p:spPr>
          <a:xfrm>
            <a:off x="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Title 12"/>
          <p:cNvSpPr/>
          <p:nvPr/>
        </p:nvSpPr>
        <p:spPr>
          <a:xfrm>
            <a:off x="915120" y="18036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Planejamento da </a:t>
            </a:r>
            <a:br>
              <a:rPr sz="4400"/>
            </a:b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próxima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4" name="PlaceHolder 1"/>
          <p:cNvSpPr>
            <a:spLocks noGrp="1"/>
          </p:cNvSpPr>
          <p:nvPr>
            <p:ph/>
          </p:nvPr>
        </p:nvSpPr>
        <p:spPr>
          <a:xfrm>
            <a:off x="457200" y="1618920"/>
            <a:ext cx="8228160" cy="505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sz="2800" dirty="0"/>
              <a:t/>
            </a:r>
            <a:r>
              <a:rPr sz="2800" dirty="0" err="1"/>
              <a:t/>
            </a:r>
            <a:r>
              <a:rPr sz="2800" dirty="0"/>
              <a:t/>
            </a: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indent="-457200" algn="l">
              <a:spcBef>
                <a:spcPts val="641"/>
              </a:spcBef>
              <a:buClr>
                <a:srgbClr val="000000"/>
              </a:buClr>
              <a:buFont typeface="+mj-lt"/>
              <a:buAutoNum type="arabicPeriod" startAt="1"/>
            </a:pPr>
            <a:r>
              <a:rPr lang="en-US" sz="22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Provedor LLM para produção</a:t>
            </a:r>
            <a:r>
              <a:rPr lang="pt-BR" sz="2200" b="1" dirty="0" err="1">
                <a:solidFill>
                  <a:schemeClr val="tx2"/>
                </a:solidFill>
              </a:rPr>
              <a:t/>
            </a:r>
            <a:r>
              <a:rPr lang="en-US" sz="22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Severidade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🟡 media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Motivo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Groq (atual) tem rate limits e OpenAI tem custo elevado para volume real. Como o desenvolvimento foi reorientado para modo de simulação (integração WhatsApp Business adiada), a urgência caiu: não bloqueia mais a sprint atual. Continua sendo decisão necessária antes de qualquer deploy real.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Ação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Manter monitorado. ADR conjunto do [arquiteto] (técnico) e [planejador] (custo) deve ser produzido até a sprint que reativar a integração real (REQ-008). Considerar estratégia híbrida: Groq para classificação leve + OpenAI para geração.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</p:txBody>
      </p:sp>
      <p:pic>
        <p:nvPicPr>
          <p:cNvPr id="75" name="Imagem 74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itle 4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dirty="0" err="1">
                <a:solidFill>
                  <a:srgbClr val="EA7500"/>
                </a:solidFill>
              </a:rPr>
              <a:t>Riscos</a:t>
            </a:r>
            <a:r>
              <a:rPr lang="en-US" sz="4400" dirty="0">
                <a:solidFill>
                  <a:srgbClr val="EA7500"/>
                </a:solidFill>
              </a:rPr>
              <a:t> e </a:t>
            </a:r>
            <a:r>
              <a:rPr lang="en-US" sz="4400" dirty="0" err="1">
                <a:solidFill>
                  <a:srgbClr val="EA7500"/>
                </a:solidFill>
              </a:rPr>
              <a:t>Impedimentos</a:t>
            </a:r>
            <a:endParaRPr lang="pt-BR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4" name="PlaceHolder 1"/>
          <p:cNvSpPr>
            <a:spLocks noGrp="1"/>
          </p:cNvSpPr>
          <p:nvPr>
            <p:ph/>
          </p:nvPr>
        </p:nvSpPr>
        <p:spPr>
          <a:xfrm>
            <a:off x="457200" y="1618920"/>
            <a:ext cx="8228160" cy="505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sz="2800" dirty="0"/>
              <a:t/>
            </a:r>
            <a:r>
              <a:rPr sz="2800" dirty="0" err="1"/>
              <a:t/>
            </a:r>
            <a:r>
              <a:rPr sz="2800" dirty="0"/>
              <a:t/>
            </a: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indent="-457200" algn="l">
              <a:spcBef>
                <a:spcPts val="641"/>
              </a:spcBef>
              <a:buClr>
                <a:srgbClr val="000000"/>
              </a:buClr>
              <a:buFont typeface="+mj-lt"/>
              <a:buAutoNum type="arabicPeriod" startAt="2"/>
            </a:pPr>
            <a:r>
              <a:rPr lang="en-US" sz="22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Webhook WhatsApp/Twilio em dev</a:t>
            </a:r>
            <a:r>
              <a:rPr lang="pt-BR" sz="2200" b="1" dirty="0" err="1">
                <a:solidFill>
                  <a:schemeClr val="tx2"/>
                </a:solidFill>
              </a:rPr>
              <a:t/>
            </a:r>
            <a:r>
              <a:rPr lang="en-US" sz="22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Severidade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🟢 baixa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Motivo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Integração real com Twilio (URL pública HTTPS via ngrok, validação no sandbox, número aprovado, templates pré-aprovados) é pré-requisito conhecido para REQ-008. Como REQ-008 foi adiado e o desenvolvimento atual usa modo de simulação, o risco virou residual: monitorar e reavaliar quando a integração real voltar ao plano.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Ação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Reabrir como 🟡 media na sprint que reincluir REQ-008 no escopo. Quando isso acontecer, documentar procedimento de setup ngrok e checklist de validação no sandbox Twilio antes de começar.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</p:txBody>
      </p:sp>
      <p:pic>
        <p:nvPicPr>
          <p:cNvPr id="75" name="Imagem 74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itle 4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dirty="0" err="1">
                <a:solidFill>
                  <a:srgbClr val="EA7500"/>
                </a:solidFill>
              </a:rPr>
              <a:t>Riscos</a:t>
            </a:r>
            <a:r>
              <a:rPr lang="en-US" sz="4400" dirty="0">
                <a:solidFill>
                  <a:srgbClr val="EA7500"/>
                </a:solidFill>
              </a:rPr>
              <a:t> e </a:t>
            </a:r>
            <a:r>
              <a:rPr lang="en-US" sz="4400" dirty="0" err="1">
                <a:solidFill>
                  <a:srgbClr val="EA7500"/>
                </a:solidFill>
              </a:rPr>
              <a:t>Impedimentos</a:t>
            </a:r>
            <a:endParaRPr lang="pt-BR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4" name="PlaceHolder 1"/>
          <p:cNvSpPr>
            <a:spLocks noGrp="1"/>
          </p:cNvSpPr>
          <p:nvPr>
            <p:ph/>
          </p:nvPr>
        </p:nvSpPr>
        <p:spPr>
          <a:xfrm>
            <a:off x="457200" y="1618920"/>
            <a:ext cx="8228160" cy="505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sz="2800" dirty="0"/>
              <a:t/>
            </a:r>
            <a:r>
              <a:rPr sz="2800" dirty="0" err="1"/>
              <a:t/>
            </a:r>
            <a:r>
              <a:rPr sz="2800" dirty="0"/>
              <a:t/>
            </a: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indent="-457200" algn="l">
              <a:spcBef>
                <a:spcPts val="641"/>
              </a:spcBef>
              <a:buClr>
                <a:srgbClr val="000000"/>
              </a:buClr>
              <a:buFont typeface="+mj-lt"/>
              <a:buAutoNum type="arabicPeriod" startAt="3"/>
            </a:pPr>
            <a:r>
              <a:rPr lang="en-US" sz="22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Seed Q&amp;A com aprovado=false</a:t>
            </a:r>
            <a:r>
              <a:rPr lang="pt-BR" sz="2200" b="1" dirty="0" err="1">
                <a:solidFill>
                  <a:schemeClr val="tx2"/>
                </a:solidFill>
              </a:rPr>
              <a:t/>
            </a:r>
            <a:r>
              <a:rPr lang="en-US" sz="22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Severidade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🟡 media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Motivo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O seed inicial de pares Q&amp;A entrou no DB como rascunhos (ativo=true, aprovado=false). Pela lógica do RAG, pares não-aprovados não são usados pelo agente. Sistema funciona tecnicamente, mas o ganho da camada Q&amp;A só aparece após revisão humana — sem isso, o agente cai no RAG genérico.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Ação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Agendar sessão de revisão com domain expert (Rita/Inforrel) usando a QABasePage. Pode entrar como tarefa do Sprint 3.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</p:txBody>
      </p:sp>
      <p:pic>
        <p:nvPicPr>
          <p:cNvPr id="75" name="Imagem 74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itle 4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dirty="0" err="1">
                <a:solidFill>
                  <a:srgbClr val="EA7500"/>
                </a:solidFill>
              </a:rPr>
              <a:t>Riscos</a:t>
            </a:r>
            <a:r>
              <a:rPr lang="en-US" sz="4400" dirty="0">
                <a:solidFill>
                  <a:srgbClr val="EA7500"/>
                </a:solidFill>
              </a:rPr>
              <a:t> e </a:t>
            </a:r>
            <a:r>
              <a:rPr lang="en-US" sz="4400" dirty="0" err="1">
                <a:solidFill>
                  <a:srgbClr val="EA7500"/>
                </a:solidFill>
              </a:rPr>
              <a:t>Impedimentos</a:t>
            </a:r>
            <a:endParaRPr lang="pt-BR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Página Cockpit de Acompanhamento de Conversas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REQ-010, REQ-011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REQ-010: antes ~10%, depois ~30%, delta +20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REQ-011: antes ~0%, depois ~10%, delta +10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Sistema RAG — Busca por Chunks de Produto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REQ-003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REQ-003: antes ~5%, depois ~60%, delta +55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Sistema Q&amp;A Pairs — Camada Curada sobre o RAG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REQ-013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REQ-013: antes 0%, depois ~60%, delta +60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Embedding Provider OpenAI com factory pattern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REQ-003, REQ-013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obs: infra de suporte — habilita REQ-003 e REQ-013; delta atribuído aos itens funcionais acima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Configuração dinâmica do RAG via API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REQ-014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REQ-014: antes 0%, depois ~25%, delta +25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Modal de Reprovação com criação de rascunho Q&amp;A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REQ-011, REQ-013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REQ-011: antes ~10%, depois ~20%, delta +10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REQ-013: antes ~60%, depois ~70%, delta +10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Bug fix — mensagem reprovada permanecia pendente na UI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REQ-011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REQ-011: antes ~20%, depois ~25%, delta +5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REQ-015 — Suporte a orçamentos de Pessoa Física (PF/CPF)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REQ-015, REQ-001, REQ-002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REQ-015: antes 0%, depois ~50%, delta +50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REQ-001: antes ~40%, depois ~45%, delta +5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REQ-002: antes ~25%, depois ~30%, delta +5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REQ-016 — Migração terminológica e estrutural Negociação → Atendimento (parcial)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REQ-016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REQ-016: antes 0%, depois ~40%, delta +40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REQ-002 — Classificador com nível de confiança qualitativo e calibração v1.21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REQ-002, REQ-014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REQ-002: antes ~30%, depois ~40%, delta +10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REQ-014: antes ~25%, depois ~35%, delta +10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REQ-013 — Index tsvector em pares_qa para busca full-text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REQ-013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REQ-013: antes ~70%, depois ~75%, delta +5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Processo gerente — Geração automatizada de sprint report com gráfico de cobertura ponderada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-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obs: governanca; gera_grafico_cobertura_ponderada.py + atualiza_cobertura_evolucao.py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Processo QA — QA Runner + cópia de contexto no painel administrativo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REQ-010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REQ-010: antes ~30%, depois ~35%, delta +5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Infraestrutura — Tunnel Cloudflared para disponibilização do sistema em dev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REQ-008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REQ-008: antes ~20%, depois ~22%, delta +2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Processo gerente — Bootstrap GitHub Projects + automação de criação de issues (bugs CTF e backlog REQ-002)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-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obs: governanca; scripts/bootstrap_github_projects.ps1 + criar_issues_req002.ps1 + criar_issues_req016_sprint03.ps1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Qualidade — Lint Ruff aplicado em todo o backend (correções incrementais)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-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obs: divida tecnica; sem impacto direto em REQ funcional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4480</TotalTime>
  <Words>391</Words>
  <Application>Microsoft Office PowerPoint</Application>
  <PresentationFormat>Apresentação na tela (4:3)</PresentationFormat>
  <Paragraphs>56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7" baseType="lpstr">
      <vt:lpstr>Arial</vt:lpstr>
      <vt:lpstr>Calibri</vt:lpstr>
      <vt:lpstr>Symbol</vt:lpstr>
      <vt:lpstr>Times New Roman</vt:lpstr>
      <vt:lpstr>Wingdings</vt:lpstr>
      <vt:lpstr>Office Theme</vt:lpstr>
      <vt:lpstr>Sprint Review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Próximo Sprint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>generated using python-pptx</dc:description>
  <cp:lastModifiedBy>Maria Cristina Sbrocco Figueiredo</cp:lastModifiedBy>
  <cp:revision>65</cp:revision>
  <dcterms:created xsi:type="dcterms:W3CDTF">2013-01-27T09:14:16Z</dcterms:created>
  <dcterms:modified xsi:type="dcterms:W3CDTF">2026-05-26T18:53:09Z</dcterms:modified>
  <dc:language>pt-BR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