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66" r:id="rId5"/>
    <p:sldId id="267" r:id="rId6"/>
    <p:sldId id="281" r:id="rId31"/>
    <p:sldId id="282" r:id="rId32"/>
    <p:sldId id="283" r:id="rId33"/>
    <p:sldId id="260" r:id="rId8"/>
    <p:sldId id="261" r:id="rId9"/>
    <p:sldId id="280" r:id="rId30"/>
    <p:sldId id="262" r:id="rId10"/>
    <p:sldId id="263" r:id="rId11"/>
    <p:sldId id="279" r:id="rId29"/>
    <p:sldId id="264" r:id="rId12"/>
    <p:sldId id="265" r:id="rId1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9144000" cy="6858000" type="screen4x3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adrã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195156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Sprint Review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Agente de vendas 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Inforrel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Sprint 2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27/04/2026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- 15/05/2026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19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dias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m 66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Continuar o desenvolvimento do sistema de RAG e Q&amp;A Pairs.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Implementando a busca por chunks de produto e a camada curada sobre o RAG.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Imagem 68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SLIDE:feito</a:t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feito.titulo</a:t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cobertura_req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C28B-5E15-33C1-CEA6-6C65A20D8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D3379948-67E2-0B77-A34C-D977D0B3DB0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827720"/>
            <a:ext cx="8685361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Cobertura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do sprint</a:t>
            </a:r>
            <a:r>
              <a:rPr lang="en-US" sz="25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Anterior à esse sprint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~20%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Após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esse sprint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~34%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Diferença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+14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343080" indent="-343080" algn="l"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Avanço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 de </a:t>
            </a: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: 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avançados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5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iniciados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3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BF3D210A-FD0E-6D5A-2611-8E55A48071B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C0C8C7D4-F9F0-D549-E869-DD346D086A8F}"/>
              </a:ext>
            </a:extLst>
          </p:cNvPr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Cobertura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79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98D9-C285-B8FA-C00A-45C2E2F4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609192AB-E9DC-EBBE-3C72-9686799F1BC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>
              <a:spcBef>
                <a:spcPts val="641"/>
              </a:spcBef>
              <a:buClr>
                <a:srgbClr val="000000"/>
              </a:buClr>
              <a:buSzPct val="45000"/>
            </a:pPr>
            <a:endParaRPr dirty="0"/>
          </a:p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tx2"/>
                </a:solidFill>
              </a:rPr>
              <a:t>Evolução</a:t>
            </a:r>
            <a:r>
              <a:rPr lang="en-US" sz="2600" b="1" dirty="0">
                <a:solidFill>
                  <a:schemeClr val="tx2"/>
                </a:solidFill>
              </a:rPr>
              <a:t> de </a:t>
            </a:r>
            <a:r>
              <a:rPr lang="en-US" sz="2600" b="1" dirty="0" err="1">
                <a:solidFill>
                  <a:schemeClr val="tx2"/>
                </a:solidFill>
              </a:rPr>
              <a:t>desenvolvimento</a:t>
            </a:r>
            <a:r>
              <a:rPr lang="en-US" sz="2600" b="1" dirty="0">
                <a:solidFill>
                  <a:schemeClr val="tx2"/>
                </a:solidFill>
              </a:rPr>
              <a:t> </a:t>
            </a:r>
            <a:r>
              <a:rPr lang="en-US" sz="2600" b="1" dirty="0" err="1">
                <a:solidFill>
                  <a:schemeClr val="tx2"/>
                </a:solidFill>
              </a:rPr>
              <a:t>por</a:t>
            </a:r>
            <a:r>
              <a:rPr lang="en-US" sz="2600" b="1" dirty="0">
                <a:solidFill>
                  <a:schemeClr val="tx2"/>
                </a:solidFill>
              </a:rPr>
              <a:t> </a:t>
            </a:r>
            <a:r>
              <a:rPr lang="en-US" sz="2600" b="1" dirty="0" err="1">
                <a:solidFill>
                  <a:schemeClr val="tx2"/>
                </a:solidFill>
              </a:rPr>
              <a:t>requisito</a:t>
            </a:r>
            <a:r>
              <a:rPr lang="en-US" sz="26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REQ-003: antes ~5%, depois ~60%, delta +55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REQ-010: antes ~10%, depois ~30%, delta +20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REQ-011: antes 0%, depois ~25%, delta +25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REQ-013: antes 0%, depois ~70%, delta +70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REQ-014: antes 0%, depois ~25%, delta +25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D7EB8217-4646-CFB8-CB0D-BF2058F75E4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62B8FAD1-9B65-A1E2-1291-3887854C0897}"/>
              </a:ext>
            </a:extLst>
          </p:cNvPr>
          <p:cNvSpPr/>
          <p:nvPr/>
        </p:nvSpPr>
        <p:spPr>
          <a:xfrm>
            <a:off x="1903750" y="180000"/>
            <a:ext cx="7239889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Evolução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de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desenvolvimento</a:t>
            </a:r>
            <a:endParaRPr lang="en-US" sz="4400" b="0" u="none" strike="noStrike" dirty="0">
              <a:solidFill>
                <a:srgbClr val="EA7500"/>
              </a:solidFill>
              <a:effectLst/>
              <a:uFillTx/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104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>{{</a:t>
            </a:r>
            <a:r>
              <a:rPr sz="2800" dirty="0" err="1"/>
              <a:t>SLIDE:riscos_e_impedimentos</a:t>
            </a:r>
            <a:r>
              <a:rPr sz="2800" dirty="0"/>
              <a:t>}}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pt-BR" sz="2200" b="1" dirty="0" err="1">
                <a:solidFill>
                  <a:schemeClr val="tx2"/>
                </a:solidFill>
              </a:rPr>
              <a:t>riscos_e_impedimentos.nome</a:t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riscos_e_impedimentos.tipo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riscos_e_impedimentos.acao_esperada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530360"/>
            <a:ext cx="8542080" cy="514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Artefatos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18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3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Bugs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Total de Reports: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Reports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diretrizes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Pares de Q&amp;A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9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Requisitos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</p:txBody>
      </p:sp>
      <p:pic>
        <p:nvPicPr>
          <p:cNvPr id="78" name="Imagem 77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/>
          </p:nvPr>
        </p:nvSpPr>
        <p:spPr>
          <a:xfrm>
            <a:off x="457920" y="1321560"/>
            <a:ext cx="8228160" cy="535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Velocidade: Sprint com alta entrega técnica (sistema Q&amp;A Pairs completo em 1 sprint). O plano de 9 passos foi executado integralmente, porém com extensão de tempo (1 semana).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Dívida de planejamento: três itens prioritários do Sprint 1 (REQ-002, REQ-004, REQ-007) migraram para o Sprint 2 e novamente para o Sprint 3. Risco de acumulação. Recomendado comprometer no mínimo REQ-002 e REQ-004 no Sprint 3 antes de iniciar novas features.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Qualidade: bug de reprovação revelou fragilidade no estado derivado (propriedade calculada pendente_aprovacao). Considerar adicionar check de QA para estados calculados críticos.</a:t>
            </a:r>
          </a:p>
        </p:txBody>
      </p:sp>
      <p:pic>
        <p:nvPicPr>
          <p:cNvPr id="81" name="Imagem 80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itle 6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Informações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adicionais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161892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Próximo</a:t>
            </a:r>
            <a:r>
              <a:rPr lang="en-US" sz="4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Sprint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700790" y="3266640"/>
            <a:ext cx="70851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Sprint 3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18/05/2026</a:t>
            </a:r>
            <a:r>
              <a:rPr lang="pt-BR" sz="2600" dirty="0" err="1"/>
              <a:t/>
            </a:r>
            <a:r>
              <a:rPr lang="pt-BR" sz="2600" dirty="0"/>
              <a:t> - 29/05/2026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12</a:t>
            </a:r>
            <a:r>
              <a:rPr lang="pt-BR" sz="2600" dirty="0" err="1"/>
              <a:t/>
            </a:r>
            <a:r>
              <a:rPr lang="pt-BR" sz="2600" dirty="0"/>
              <a:t> dias</a:t>
            </a:r>
          </a:p>
        </p:txBody>
      </p:sp>
      <p:pic>
        <p:nvPicPr>
          <p:cNvPr id="85" name="Imagem 84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Mapeamento do modelo de dados das principais tabelas (entidades + relacionamentos + diagrama ER)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Cadastro de Tipos de Produto e Produtos (REQ-002)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Escalonamento para Humano completo (REQ-004)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Workflow de aprovação de pares Q&amp;A (notificação + histórico de revisões)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Análise de sentimento e detecção de mal humor (REQ-007)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Rastreamento de orçamentos (REQ-006)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321560"/>
            <a:ext cx="8228160" cy="553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Mapear modelo de dados das principais tabelas (entidades de negócio e relacionamentos).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Cadastro de tipos de produtos.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Imagem 90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1563328" y="180000"/>
            <a:ext cx="7579951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Objetivo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Próxima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Fluxo conversacional de confirmação dos dados (S/N)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Política de 3 tentativas + escalonamento em falhas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Instrumentação de NFRs (tempo, disponibilidade, falhas)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Fluxo adaptativo com lógica de próxima pergunta dinâmica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Validação de respostas e esclarecimento pontual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tipos de produto adicionais (câmera, roteador, software, cancela, assistência)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modelo do produto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Capturar endereço de entrega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Sumarização final dos dados coletados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Eco/confirmação dos dados extraídos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Regras específicas por produto (002.14 / 002.14A / 002.15)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Tratamento de ambiguidade (até 2 esclarecimentos)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Detecção de abandono de conversa (24h / 72h)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Reuso de CNPJ — regras de conflito/troca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Completar conteúdo da base (preços, prazos, instalação, compatibilidade)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Fallback de resposta insuficiente (1 clarificação + escalonar)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Devolver controle ao fluxo de qualificação após responder FAQ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Não acionar RAG durante qualificação dirigida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Envio de catálogo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Instrumentação de NFRs (tempo de resposta, concisão)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Notificação ao atendente via WhatsApp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Geração de resumo da conversa para humano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Gatilhos automáticos de escalonamento (insatisfação, baixa confiança, projeto complexo)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Pré-qualificação antes de escalar (004.5A)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Mensagem de transição ao cliente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Validar suspensão de respostas automáticas em todos os módulos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Instrumentação SLA + auditabilidade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transição de estado (ator + motivo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orçamento e de erros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Consulta/filtro de histórico por cliente/período/status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Imutabilidade do registro enforced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Política para dados sensíveis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Estados de orçamento batendo com REQ (rascunho/enviado/convertido/perdido)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Campo motivo para orçamentos perdidos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Endpoints + UI de atualização manual de 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Auditoria de autoria das alterações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Listagem filtrada por período/cliente/status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Tela de visualização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Classificação formal positivo/neutro/negativo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Persistência das classificações de sentimento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Flag de conversa crítica integrada ao escalonamento (REQ-004/REQ-005)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Webhook Twilio com idempotência e validação de assinatura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Envio outbound de mensagens via Twilio API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Tratamento de links e arquivos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Política de retry e registro de erros de envio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Auditoria de proteção dos segredos Twilio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Detecção de reclamação pós-venda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Identificação do orçamento por telefone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Confirmação com o cliente + escalonamento com contexto completo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listagem de orçamentos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detalhe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escalonamentos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UI de atualização manual de status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Filtros consolidados de histórico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Enum de 3 modos de execução (simulacao / conversa_controlada / execucao_normal)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Gate de envio Twilio condicionado ao modo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Histórico de transições do report (status + ator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Filtros adicionais na listagem de reports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Ação 'criar par Q&amp;A a partir do report' (integra REQ-013)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Criação de par Q&amp;A a partir de report (REQ-012)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Filtro por contexto na busca de pares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Auditoria do uso de pares Q&amp;A em ProcessamentoMensagem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Detecção de duplicatas na criação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Estatísticas de uso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Parâmetros Q&amp;A no PATCH /api/config/rag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Toggles *_enabled (ativar/desativar camadas individualmente)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Persistência das configurações entre reinícios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Histórico de alterações de configuração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Tela dedicada no painel administrativo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Extração automática de pares de conversas reais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Feedback loop — avaliação de respostas pelo operador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Importação em lote via CSV pelo frontend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Autenticação e autorização (JWT, roles admin/operador)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Suite de testes automatizados (backend + frontend) e cobertura mínima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Instrumentação geral de NFRs (latência, concorrência, observabilidade)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Documentação operacional / runbook de produção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Deploy em produção com domínio Inforrel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Sistema de notificações em tempo real (WebSocket/SSE)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Multi-tenancy da aplicação (arquitetura SaaS)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Integração com ERPs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Simplificação dos agentes Python (condensar prompts no AGENTS.md) (baixa)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" name="PlaceHolder 1"/>
          <p:cNvSpPr>
            <a:spLocks noGrp="1"/>
          </p:cNvSpPr>
          <p:nvPr>
            <p:ph/>
          </p:nvPr>
        </p:nvSpPr>
        <p:spPr>
          <a:xfrm>
            <a:off x="457920" y="1321560"/>
            <a:ext cx="8228160" cy="535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Governança de IA: análise Agentes vs Skills vs Harness gerou insumo para simplificação do diretório agentes/. Recomendado executar a simplificação no Sprint 3 (baixa prioridade, mas reduz dívida de manutenção).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Embedding lazy (gerado na aprovação, não no cadastro): decisão correta — elimina custo de API para rascunhos que nunca serão aprovados e reduz latência do POST /api/pares-qa.</a:t>
            </a:r>
          </a:p>
        </p:txBody>
      </p:sp>
      <p:pic>
        <p:nvPicPr>
          <p:cNvPr id="81" name="Imagem 80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itle 6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Informações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adicionais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1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Provedor LLM para produção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Groq (atual) tem rate limits e OpenAI tem custo elevado para volume real. Como o desenvolvimento foi reorientado para modo de simulação (integração WhatsApp Business adiada), a urgência caiu: não bloqueia mais a sprint atual. Continua sendo decisão necessária antes de qualquer deploy real.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Manter monitorado. ADR conjunto do [arquiteto] (técnico) e [planejador] (custo) deve ser produzido até a sprint que reativar a integração real (REQ-008). Considerar estratégia híbrida: Groq para classificação leve + OpenAI para geração.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2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Webhook WhatsApp/Twilio em dev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🟢 baixa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Integração real com Twilio (URL pública HTTPS via ngrok, validação no sandbox, número aprovado, templates pré-aprovados) é pré-requisito conhecido para REQ-008. Como REQ-008 foi adiado e o desenvolvimento atual usa modo de simulação, o risco virou residual: monitorar e reavaliar quando a integração real voltar ao plano.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Reabrir como 🟡 media na sprint que reincluir REQ-008 no escopo. Quando isso acontecer, documentar procedimento de setup ngrok e checklist de validação no sandbox Twilio antes de começar.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3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Seed Q&amp;A com aprovado=false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O seed inicial de pares Q&amp;A entrou no DB como rascunhos (ativo=true, aprovado=false). Pela lógica do RAG, pares não-aprovados não são usados pelo agente. Sistema funciona tecnicamente, mas o ganho da camada Q&amp;A só aparece após revisão humana — sem isso, o agente cai no RAG genérico.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Agendar sessão de revisão com domain expert (Rita/Inforrel) usando a QABasePage. Pode entrar como tarefa do Sprint 3.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Página Cockpit de Acompanhamento de Conversas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REQ-010,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REQ-010: antes ~10%, depois ~30%, delta +20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~0%, depois ~10%,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RAG — Busca por Chunks de Produto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REQ-003: antes ~5%, depois ~60%, delta +55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Q&amp;A Pairs — Camada Curada sobre o RAG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0%, depois ~60%, delta +60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Embedding Provider OpenAI com factory pattern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infra de suporte — habilita REQ-003 e REQ-013; delta atribuído aos itens funcionais acima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Configuração dinâmica do RAG via API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REQ-014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REQ-014: antes 0%, depois ~25%, delta +25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Modal de Reprovação com criação de rascunho Q&amp;A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~10%, depois ~20%,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~60%, depois ~70%,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Bug fix — mensagem reprovada permanecia pendente na UI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~20%, depois ~25%,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4466</TotalTime>
  <Words>407</Words>
  <Application>Microsoft Office PowerPoint</Application>
  <PresentationFormat>Apresentação na tela (4:3)</PresentationFormat>
  <Paragraphs>61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Calibri</vt:lpstr>
      <vt:lpstr>Symbol</vt:lpstr>
      <vt:lpstr>Times New Roman</vt:lpstr>
      <vt:lpstr>Wingdings</vt:lpstr>
      <vt:lpstr>Office Theme</vt:lpstr>
      <vt:lpstr>Sprint Review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Próximo Sprint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Maria Cristina Sbrocco Figueiredo</cp:lastModifiedBy>
  <cp:revision>58</cp:revision>
  <dcterms:created xsi:type="dcterms:W3CDTF">2013-01-27T09:14:16Z</dcterms:created>
  <dcterms:modified xsi:type="dcterms:W3CDTF">2026-05-25T19:21:33Z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