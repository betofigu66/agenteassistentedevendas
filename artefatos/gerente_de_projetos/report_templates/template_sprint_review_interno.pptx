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66" r:id="rId5"/>
    <p:sldId id="267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9144000" cy="6858000" type="screen4x3"/>
  <p:notesSz cx="7559675" cy="10691813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66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Padrã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0960" cy="1468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3B7A5142-31BB-49EC-AAA7-3346BFC3A7A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8160" cy="3976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 formato de texto dos tópicos</a:t>
            </a: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2.º nível de tópicos</a:t>
            </a:r>
          </a:p>
          <a:p>
            <a:pPr marL="1296000" lvl="2" indent="-2880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3.º nível de tópicos</a:t>
            </a:r>
          </a:p>
          <a:p>
            <a:pPr marL="1728000" lvl="3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4.º nível de tópicos</a:t>
            </a:r>
          </a:p>
          <a:p>
            <a:pPr marL="2160000" lvl="4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5.º nível de tópicos</a:t>
            </a:r>
          </a:p>
          <a:p>
            <a:pPr marL="2592000" lvl="5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6.º nível de tópicos</a:t>
            </a:r>
          </a:p>
          <a:p>
            <a:pPr marL="3024000" lvl="6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7.º nível de tópicos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160" cy="1141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160" cy="45244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0C84D38D-BCB8-4780-A7C9-DCDD4F99D23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5960" cy="585000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8480" cy="585000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CF18AB68-CB0F-4F42-A469-FC53B7EBE61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160" cy="1141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160" cy="4524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75434C64-A4E5-4E8F-899D-DAB7305740E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0960" cy="136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0960" cy="1498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24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</a:p>
        </p:txBody>
      </p:sp>
      <p:sp>
        <p:nvSpPr>
          <p:cNvPr id="26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2D45A7FA-0BA9-45FA-8E73-BB2151AA18B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160" cy="1141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7040" cy="4524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29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7040" cy="4524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30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</a:p>
        </p:txBody>
      </p:sp>
      <p:sp>
        <p:nvSpPr>
          <p:cNvPr id="32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AD9D8B24-0F54-4ACA-A15F-ACA4DAEB669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160" cy="1141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8840" cy="63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8840" cy="3949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36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0280" cy="63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0280" cy="3949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38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</a:p>
        </p:txBody>
      </p:sp>
      <p:sp>
        <p:nvSpPr>
          <p:cNvPr id="40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2F4C3921-8FF7-45A9-AB77-95B12FFBC96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160" cy="1141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42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</a:p>
        </p:txBody>
      </p:sp>
      <p:sp>
        <p:nvSpPr>
          <p:cNvPr id="44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7407FD2B-2D84-4D7C-9CB3-98EAA734F7E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</a:p>
        </p:txBody>
      </p:sp>
      <p:sp>
        <p:nvSpPr>
          <p:cNvPr id="47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9BA5061C-1421-48F7-B415-CE6A82B775D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6720" cy="1160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0200" cy="5851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50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6720" cy="4689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51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</a:p>
        </p:txBody>
      </p:sp>
      <p:sp>
        <p:nvSpPr>
          <p:cNvPr id="53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15229EA1-40D4-4C97-BAF5-305353E6425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4960" cy="56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4960" cy="4113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 defTabSz="457200">
              <a:lnSpc>
                <a:spcPct val="100000"/>
              </a:lnSpc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 formato de texto dos tópicos</a:t>
            </a:r>
          </a:p>
          <a:p>
            <a:pPr marL="4572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2.º nível de tópicos</a:t>
            </a:r>
          </a:p>
          <a:p>
            <a:pPr marL="914400" lvl="2" indent="-2880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3.º nível de tópicos</a:t>
            </a:r>
          </a:p>
          <a:p>
            <a:pPr marL="1371600" lvl="3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4.º nível de tópicos</a:t>
            </a:r>
          </a:p>
          <a:p>
            <a:pPr marL="1828800" lvl="4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5.º nível de tópicos</a:t>
            </a:r>
          </a:p>
          <a:p>
            <a:pPr marL="2286000" lvl="5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6.º nível de tópicos</a:t>
            </a:r>
          </a:p>
          <a:p>
            <a:pPr marL="2743200" lvl="6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7.º nível de tópicos</a:t>
            </a:r>
          </a:p>
        </p:txBody>
      </p:sp>
      <p:sp>
        <p:nvSpPr>
          <p:cNvPr id="56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4960" cy="803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57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</a:p>
        </p:txBody>
      </p:sp>
      <p:sp>
        <p:nvSpPr>
          <p:cNvPr id="59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B3C6E4A9-E911-4567-A0FD-350978F4014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0960" cy="1468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61" name="PlaceHolder 2"/>
          <p:cNvSpPr>
            <a:spLocks noGrp="1"/>
          </p:cNvSpPr>
          <p:nvPr>
            <p:ph type="dt" idx="34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 type="ftr" idx="35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</a:p>
        </p:txBody>
      </p:sp>
      <p:sp>
        <p:nvSpPr>
          <p:cNvPr id="63" name="PlaceHolder 4"/>
          <p:cNvSpPr>
            <a:spLocks noGrp="1"/>
          </p:cNvSpPr>
          <p:nvPr>
            <p:ph type="sldNum" idx="36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CDA3C00C-0118-442C-A3B5-7916CE484EF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8160" cy="3976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 formato de texto dos tópicos</a:t>
            </a: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2.º nível de tópicos</a:t>
            </a:r>
          </a:p>
          <a:p>
            <a:pPr marL="1296000" lvl="2" indent="-2880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3.º nível de tópicos</a:t>
            </a:r>
          </a:p>
          <a:p>
            <a:pPr marL="1728000" lvl="3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4.º nível de tópicos</a:t>
            </a:r>
          </a:p>
          <a:p>
            <a:pPr marL="2160000" lvl="4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5.º nível de tópicos</a:t>
            </a:r>
          </a:p>
          <a:p>
            <a:pPr marL="2592000" lvl="5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6.º nível de tópicos</a:t>
            </a:r>
          </a:p>
          <a:p>
            <a:pPr marL="3024000" lvl="6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7.º nível de tópicos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685800" y="1951560"/>
            <a:ext cx="7770960" cy="1468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Sprint Review</a:t>
            </a:r>
          </a:p>
        </p:txBody>
      </p:sp>
      <p:sp>
        <p:nvSpPr>
          <p:cNvPr id="66" name="PlaceHolder 2"/>
          <p:cNvSpPr>
            <a:spLocks noGrp="1"/>
          </p:cNvSpPr>
          <p:nvPr>
            <p:ph type="subTitle"/>
          </p:nvPr>
        </p:nvSpPr>
        <p:spPr>
          <a:xfrm>
            <a:off x="1371600" y="3420000"/>
            <a:ext cx="6399360" cy="2773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lang="pt-BR" sz="3200" b="0" u="none" strike="noStrike" dirty="0">
                <a:solidFill>
                  <a:schemeClr val="tx1"/>
                </a:solidFill>
                <a:effectLst/>
                <a:uFillTx/>
                <a:latin typeface="Calibri"/>
              </a:rPr>
              <a:t>Agente de vendas </a:t>
            </a:r>
            <a:r>
              <a:rPr lang="pt-BR" sz="3200" b="0" u="none" strike="noStrike" dirty="0" err="1">
                <a:solidFill>
                  <a:schemeClr val="tx1"/>
                </a:solidFill>
                <a:effectLst/>
                <a:uFillTx/>
                <a:latin typeface="Calibri"/>
              </a:rPr>
              <a:t>Inforrel</a:t>
            </a:r>
            <a:r>
              <a:rPr lang="pt-BR" sz="3200" b="0" u="none" strike="noStrike" dirty="0">
                <a:solidFill>
                  <a:schemeClr val="tx1"/>
                </a:solidFill>
                <a:effectLst/>
                <a:uFillTx/>
                <a:latin typeface="Calibri"/>
              </a:rPr>
              <a:t> </a:t>
            </a:r>
            <a:endParaRPr lang="pt-BR" sz="3200" b="0" u="none" strike="noStrike" dirty="0">
              <a:solidFill>
                <a:schemeClr val="tx1"/>
              </a:solidFill>
              <a:effectLst/>
              <a:uFillTx/>
              <a:latin typeface="Arial"/>
            </a:endParaRPr>
          </a:p>
          <a:p>
            <a:pPr marL="216000" indent="-21600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pt-BR" sz="3200" b="0" u="none" strike="noStrike" dirty="0">
                <a:solidFill>
                  <a:schemeClr val="tx1"/>
                </a:solidFill>
                <a:effectLst/>
                <a:uFillTx/>
                <a:latin typeface="Calibri"/>
              </a:rPr>
              <a:t>Sprint {{</a:t>
            </a:r>
            <a:r>
              <a:rPr lang="pt-BR" sz="3200" b="0" u="none" strike="noStrike" dirty="0" err="1">
                <a:solidFill>
                  <a:schemeClr val="tx1"/>
                </a:solidFill>
                <a:effectLst/>
                <a:uFillTx/>
                <a:latin typeface="Calibri"/>
              </a:rPr>
              <a:t>sprint_numero</a:t>
            </a:r>
            <a:r>
              <a:rPr lang="pt-BR" sz="3200" b="0" u="none" strike="noStrike" dirty="0">
                <a:solidFill>
                  <a:schemeClr val="tx1"/>
                </a:solidFill>
                <a:effectLst/>
                <a:uFillTx/>
                <a:latin typeface="Calibri"/>
              </a:rPr>
              <a:t>}} </a:t>
            </a:r>
            <a:endParaRPr lang="pt-BR" sz="3200" b="0" u="none" strike="noStrike" dirty="0">
              <a:solidFill>
                <a:schemeClr val="tx1"/>
              </a:solidFill>
              <a:effectLst/>
              <a:uFillTx/>
              <a:latin typeface="Arial"/>
            </a:endParaRPr>
          </a:p>
          <a:p>
            <a:pPr marL="216000" indent="-21600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pt-BR" sz="3200" b="0" u="none" strike="noStrike" dirty="0">
                <a:solidFill>
                  <a:schemeClr val="tx1"/>
                </a:solidFill>
                <a:effectLst/>
                <a:uFillTx/>
                <a:latin typeface="Calibri"/>
              </a:rPr>
              <a:t>{{</a:t>
            </a:r>
            <a:r>
              <a:rPr lang="pt-BR" sz="3200" b="0" u="none" strike="noStrike" dirty="0" err="1">
                <a:solidFill>
                  <a:schemeClr val="tx1"/>
                </a:solidFill>
                <a:effectLst/>
                <a:uFillTx/>
                <a:latin typeface="Calibri"/>
              </a:rPr>
              <a:t>data_inicio</a:t>
            </a:r>
            <a:r>
              <a:rPr lang="pt-BR" sz="3200" b="0" u="none" strike="noStrike" dirty="0">
                <a:solidFill>
                  <a:schemeClr val="tx1"/>
                </a:solidFill>
                <a:effectLst/>
                <a:uFillTx/>
                <a:latin typeface="Calibri"/>
              </a:rPr>
              <a:t>}} - {{</a:t>
            </a:r>
            <a:r>
              <a:rPr lang="pt-BR" sz="3200" b="0" u="none" strike="noStrike" dirty="0" err="1">
                <a:solidFill>
                  <a:schemeClr val="tx1"/>
                </a:solidFill>
                <a:effectLst/>
                <a:uFillTx/>
                <a:latin typeface="Calibri"/>
              </a:rPr>
              <a:t>data_fim</a:t>
            </a:r>
            <a:r>
              <a:rPr lang="pt-BR" sz="3200" b="0" u="none" strike="noStrike" dirty="0">
                <a:solidFill>
                  <a:schemeClr val="tx1"/>
                </a:solidFill>
                <a:effectLst/>
                <a:uFillTx/>
                <a:latin typeface="Calibri"/>
              </a:rPr>
              <a:t>}} </a:t>
            </a:r>
            <a:endParaRPr lang="pt-BR" sz="3200" b="0" u="none" strike="noStrike" dirty="0">
              <a:solidFill>
                <a:schemeClr val="tx1"/>
              </a:solidFill>
              <a:effectLst/>
              <a:uFillTx/>
              <a:latin typeface="Arial"/>
            </a:endParaRPr>
          </a:p>
          <a:p>
            <a:pPr marL="216000" indent="-21600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pt-BR" sz="3200" b="0" u="none" strike="noStrike" dirty="0">
                <a:solidFill>
                  <a:schemeClr val="tx1"/>
                </a:solidFill>
                <a:effectLst/>
                <a:uFillTx/>
                <a:latin typeface="Calibri"/>
              </a:rPr>
              <a:t>{{</a:t>
            </a:r>
            <a:r>
              <a:rPr lang="pt-BR" sz="3200" b="0" u="none" strike="noStrike" dirty="0" err="1">
                <a:solidFill>
                  <a:schemeClr val="tx1"/>
                </a:solidFill>
                <a:effectLst/>
                <a:uFillTx/>
                <a:latin typeface="Calibri"/>
              </a:rPr>
              <a:t>duracao_dias</a:t>
            </a:r>
            <a:r>
              <a:rPr lang="pt-BR" sz="3200" b="0" u="none" strike="noStrike" dirty="0">
                <a:solidFill>
                  <a:schemeClr val="tx1"/>
                </a:solidFill>
                <a:effectLst/>
                <a:uFillTx/>
                <a:latin typeface="Calibri"/>
              </a:rPr>
              <a:t>}} dias</a:t>
            </a:r>
            <a:endParaRPr lang="pt-BR" sz="3200" b="0" u="none" strike="noStrike" dirty="0">
              <a:solidFill>
                <a:schemeClr val="tx1"/>
              </a:solidFill>
              <a:effectLst/>
              <a:uFillTx/>
              <a:latin typeface="Arial"/>
            </a:endParaRPr>
          </a:p>
        </p:txBody>
      </p:sp>
      <p:pic>
        <p:nvPicPr>
          <p:cNvPr id="67" name="Imagem 66"/>
          <p:cNvPicPr/>
          <p:nvPr/>
        </p:nvPicPr>
        <p:blipFill>
          <a:blip r:embed="rId2"/>
          <a:stretch/>
        </p:blipFill>
        <p:spPr>
          <a:xfrm>
            <a:off x="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/>
          </p:nvPr>
        </p:nvSpPr>
        <p:spPr>
          <a:xfrm>
            <a:off x="457200" y="1558440"/>
            <a:ext cx="8228160" cy="4524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endParaRPr lang="en-US" sz="32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{{</a:t>
            </a:r>
            <a:r>
              <a:rPr lang="en-US" sz="28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objetivos</a:t>
            </a:r>
            <a:r>
              <a:rPr lang="en-US" sz="28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}} </a:t>
            </a:r>
            <a:endParaRPr lang="en-US" sz="28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9" name="Imagem 68"/>
          <p:cNvPicPr/>
          <p:nvPr/>
        </p:nvPicPr>
        <p:blipFill>
          <a:blip r:embed="rId2"/>
          <a:stretch/>
        </p:blipFill>
        <p:spPr>
          <a:xfrm>
            <a:off x="36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" name="Title 2"/>
          <p:cNvSpPr/>
          <p:nvPr/>
        </p:nvSpPr>
        <p:spPr>
          <a:xfrm>
            <a:off x="91512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Objetivo da Sprint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/>
          </p:nvPr>
        </p:nvSpPr>
        <p:spPr>
          <a:xfrm>
            <a:off x="411120" y="1321560"/>
            <a:ext cx="8228160" cy="4637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endParaRPr lang="en-US" sz="32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lang="en-US" sz="32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{{</a:t>
            </a:r>
            <a:r>
              <a:rPr lang="en-US" sz="32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SLIDE:feito</a:t>
            </a:r>
            <a:r>
              <a:rPr lang="en-US" sz="32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}}</a:t>
            </a: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{{</a:t>
            </a:r>
            <a:r>
              <a:rPr lang="en-US" sz="2600" b="1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>feito.titulo</a:t>
            </a:r>
            <a:r>
              <a:rPr lang="en-US" sz="26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}}</a:t>
            </a: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r>
              <a:rPr lang="en-US" sz="26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Requisitos</a:t>
            </a:r>
            <a:r>
              <a:rPr lang="en-US" sz="2600" b="1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 </a:t>
            </a:r>
            <a:r>
              <a:rPr lang="en-US" sz="26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envolvidos</a:t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: {{</a:t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feito</a:t>
            </a:r>
            <a:r>
              <a:rPr lang="en-US" sz="2600" dirty="0" err="1">
                <a:solidFill>
                  <a:schemeClr val="dk1"/>
                </a:solidFill>
                <a:latin typeface="Calibri"/>
                <a:ea typeface="Microsoft YaHei"/>
              </a:rPr>
              <a:t>.req</a:t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}}</a:t>
            </a: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endParaRPr lang="en-US" sz="1100" dirty="0">
              <a:solidFill>
                <a:schemeClr val="dk1"/>
              </a:solidFill>
              <a:latin typeface="Calibri"/>
              <a:ea typeface="Microsoft YaHei"/>
            </a:endParaRP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Porcentagem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de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cobertura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por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requisito</a:t>
            </a:r>
            <a:r>
              <a:rPr lang="en-US" sz="2600" dirty="0">
                <a:solidFill>
                  <a:schemeClr val="dk1"/>
                </a:solidFill>
                <a:latin typeface="Calibri"/>
                <a:ea typeface="Microsoft YaHei"/>
              </a:rPr>
              <a:t>:</a:t>
            </a:r>
            <a:endParaRPr lang="en-US" sz="26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{{</a:t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feito</a:t>
            </a:r>
            <a:r>
              <a:rPr lang="en-US" sz="2600" dirty="0" err="1">
                <a:solidFill>
                  <a:schemeClr val="dk1"/>
                </a:solidFill>
                <a:latin typeface="Calibri"/>
                <a:ea typeface="Microsoft YaHei"/>
              </a:rPr>
              <a:t>.</a:t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cobertura_req</a:t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}}</a:t>
            </a:r>
            <a:endParaRPr lang="en-US" sz="26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2" name="Imagem 71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Title 3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Realizações da Sprint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14C28B-5E15-33C1-CEA6-6C65A20D80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>
            <a:extLst>
              <a:ext uri="{FF2B5EF4-FFF2-40B4-BE49-F238E27FC236}">
                <a16:creationId xmlns:a16="http://schemas.microsoft.com/office/drawing/2014/main" id="{D3379948-67E2-0B77-A34C-D977D0B3DB00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457919" y="1827720"/>
            <a:ext cx="8685361" cy="4850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r>
              <a:rPr lang="en-US" sz="2500" b="1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>Cobertura</a:t>
            </a:r>
            <a:r>
              <a:rPr lang="en-US" sz="25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 do sprint</a:t>
            </a:r>
            <a:r>
              <a:rPr lang="en-US" sz="2500" b="1" dirty="0">
                <a:solidFill>
                  <a:schemeClr val="tx2"/>
                </a:solidFill>
              </a:rPr>
              <a:t>:</a:t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500" b="1" dirty="0">
                <a:solidFill>
                  <a:schemeClr val="dk1"/>
                </a:solidFill>
                <a:latin typeface="Calibri"/>
                <a:ea typeface="Microsoft YaHei"/>
              </a:rPr>
              <a:t>Anterior à esse sprint</a:t>
            </a:r>
            <a:r>
              <a:rPr lang="en-US" sz="2500" dirty="0">
                <a:solidFill>
                  <a:schemeClr val="dk1"/>
                </a:solidFill>
                <a:latin typeface="Calibri"/>
                <a:ea typeface="Microsoft YaHei"/>
              </a:rPr>
              <a:t>: {{</a:t>
            </a:r>
            <a:r>
              <a:rPr lang="en-US" sz="2500" dirty="0" err="1">
                <a:solidFill>
                  <a:schemeClr val="dk1"/>
                </a:solidFill>
                <a:latin typeface="Calibri"/>
                <a:ea typeface="Microsoft YaHei"/>
              </a:rPr>
              <a:t>cobertura_sprint.media_projeto.antes</a:t>
            </a:r>
            <a:r>
              <a:rPr lang="en-US" sz="2500" dirty="0">
                <a:solidFill>
                  <a:schemeClr val="dk1"/>
                </a:solidFill>
                <a:latin typeface="Calibri"/>
                <a:ea typeface="Microsoft YaHei"/>
              </a:rPr>
              <a:t>}}</a:t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500" b="1" dirty="0" err="1">
                <a:solidFill>
                  <a:schemeClr val="dk1"/>
                </a:solidFill>
                <a:latin typeface="Calibri"/>
                <a:ea typeface="Microsoft YaHei"/>
              </a:rPr>
              <a:t>Após</a:t>
            </a:r>
            <a:r>
              <a:rPr lang="en-US" sz="2500" b="1" dirty="0">
                <a:solidFill>
                  <a:schemeClr val="dk1"/>
                </a:solidFill>
                <a:latin typeface="Calibri"/>
                <a:ea typeface="Microsoft YaHei"/>
              </a:rPr>
              <a:t> esse sprint</a:t>
            </a:r>
            <a:r>
              <a:rPr lang="en-US" sz="2500" dirty="0">
                <a:solidFill>
                  <a:schemeClr val="dk1"/>
                </a:solidFill>
                <a:latin typeface="Calibri"/>
                <a:ea typeface="Microsoft YaHei"/>
              </a:rPr>
              <a:t>: {{</a:t>
            </a:r>
            <a:r>
              <a:rPr lang="en-US" sz="2500" dirty="0" err="1">
                <a:solidFill>
                  <a:schemeClr val="dk1"/>
                </a:solidFill>
                <a:latin typeface="Calibri"/>
                <a:ea typeface="Microsoft YaHei"/>
              </a:rPr>
              <a:t>cobertura_sprint.media_projeto.depois</a:t>
            </a:r>
            <a:r>
              <a:rPr lang="en-US" sz="2500" dirty="0">
                <a:solidFill>
                  <a:schemeClr val="dk1"/>
                </a:solidFill>
                <a:latin typeface="Calibri"/>
                <a:ea typeface="Microsoft YaHei"/>
              </a:rPr>
              <a:t>}}</a:t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500" b="1" dirty="0" err="1">
                <a:solidFill>
                  <a:schemeClr val="dk1"/>
                </a:solidFill>
                <a:latin typeface="Calibri"/>
                <a:ea typeface="Microsoft YaHei"/>
              </a:rPr>
              <a:t>Diferença</a:t>
            </a:r>
            <a:r>
              <a:rPr lang="en-US" sz="2500" dirty="0">
                <a:solidFill>
                  <a:schemeClr val="dk1"/>
                </a:solidFill>
                <a:latin typeface="Calibri"/>
                <a:ea typeface="Microsoft YaHei"/>
              </a:rPr>
              <a:t>: {{</a:t>
            </a:r>
            <a:r>
              <a:rPr lang="en-US" sz="2500" dirty="0" err="1">
                <a:solidFill>
                  <a:schemeClr val="dk1"/>
                </a:solidFill>
                <a:latin typeface="Calibri"/>
                <a:ea typeface="Microsoft YaHei"/>
              </a:rPr>
              <a:t>cobertura_sprint.media_projeto.delta_pp</a:t>
            </a:r>
            <a:r>
              <a:rPr lang="en-US" sz="2500" dirty="0">
                <a:solidFill>
                  <a:schemeClr val="dk1"/>
                </a:solidFill>
                <a:latin typeface="Calibri"/>
                <a:ea typeface="Microsoft YaHei"/>
              </a:rPr>
              <a:t>}}</a:t>
            </a:r>
          </a:p>
          <a:p>
            <a:pPr marL="343080" indent="-343080" algn="l">
              <a:spcBef>
                <a:spcPts val="64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1" u="none" strike="noStrike" dirty="0" err="1">
                <a:solidFill>
                  <a:schemeClr val="tx2"/>
                </a:solidFill>
                <a:effectLst/>
                <a:uFillTx/>
                <a:latin typeface="Calibri"/>
                <a:ea typeface="Microsoft YaHei"/>
              </a:rPr>
              <a:t>Avanço</a:t>
            </a:r>
            <a:r>
              <a:rPr lang="en-US" sz="2500" b="1" u="none" strike="noStrike" dirty="0">
                <a:solidFill>
                  <a:schemeClr val="tx2"/>
                </a:solidFill>
                <a:effectLst/>
                <a:uFillTx/>
                <a:latin typeface="Calibri"/>
                <a:ea typeface="Microsoft YaHei"/>
              </a:rPr>
              <a:t> de </a:t>
            </a:r>
            <a:r>
              <a:rPr lang="en-US" sz="2500" b="1" u="none" strike="noStrike" dirty="0" err="1">
                <a:solidFill>
                  <a:schemeClr val="tx2"/>
                </a:solidFill>
                <a:effectLst/>
                <a:uFillTx/>
                <a:latin typeface="Calibri"/>
                <a:ea typeface="Microsoft YaHei"/>
              </a:rPr>
              <a:t>Requisitos</a:t>
            </a:r>
            <a:r>
              <a:rPr lang="en-US" sz="2500" b="1" u="none" strike="noStrike" dirty="0">
                <a:solidFill>
                  <a:schemeClr val="tx2"/>
                </a:solidFill>
                <a:effectLst/>
                <a:uFillTx/>
                <a:latin typeface="Calibri"/>
                <a:ea typeface="Microsoft YaHei"/>
              </a:rPr>
              <a:t>: </a:t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500" b="1" dirty="0">
                <a:solidFill>
                  <a:schemeClr val="dk1"/>
                </a:solidFill>
                <a:latin typeface="Calibri"/>
                <a:ea typeface="Microsoft YaHei"/>
              </a:rPr>
              <a:t>Total de </a:t>
            </a:r>
            <a:r>
              <a:rPr lang="en-US" sz="2500" b="1" dirty="0" err="1">
                <a:solidFill>
                  <a:schemeClr val="dk1"/>
                </a:solidFill>
                <a:latin typeface="Calibri"/>
                <a:ea typeface="Microsoft YaHei"/>
              </a:rPr>
              <a:t>requisitos</a:t>
            </a:r>
            <a:r>
              <a:rPr lang="en-US" sz="2500" b="1" dirty="0">
                <a:solidFill>
                  <a:schemeClr val="dk1"/>
                </a:solidFill>
                <a:latin typeface="Calibri"/>
                <a:ea typeface="Microsoft YaHei"/>
              </a:rPr>
              <a:t> </a:t>
            </a:r>
            <a:r>
              <a:rPr lang="en-US" sz="2500" b="1" dirty="0" err="1">
                <a:solidFill>
                  <a:schemeClr val="dk1"/>
                </a:solidFill>
                <a:latin typeface="Calibri"/>
                <a:ea typeface="Microsoft YaHei"/>
              </a:rPr>
              <a:t>avançados</a:t>
            </a:r>
            <a:r>
              <a:rPr lang="en-US" sz="2500" dirty="0">
                <a:solidFill>
                  <a:schemeClr val="dk1"/>
                </a:solidFill>
                <a:latin typeface="Calibri"/>
                <a:ea typeface="Microsoft YaHei"/>
              </a:rPr>
              <a:t>: {{</a:t>
            </a:r>
            <a:r>
              <a:rPr lang="en-US" sz="2500" dirty="0" err="1">
                <a:solidFill>
                  <a:schemeClr val="dk1"/>
                </a:solidFill>
                <a:latin typeface="Calibri"/>
                <a:ea typeface="Microsoft YaHei"/>
              </a:rPr>
              <a:t>cobertura_sprint.reqs_avancados</a:t>
            </a:r>
            <a:r>
              <a:rPr lang="en-US" sz="2500" dirty="0">
                <a:solidFill>
                  <a:schemeClr val="dk1"/>
                </a:solidFill>
                <a:latin typeface="Calibri"/>
                <a:ea typeface="Microsoft YaHei"/>
              </a:rPr>
              <a:t>}}</a:t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500" b="1" dirty="0">
                <a:solidFill>
                  <a:schemeClr val="dk1"/>
                </a:solidFill>
                <a:latin typeface="Calibri"/>
                <a:ea typeface="Microsoft YaHei"/>
              </a:rPr>
              <a:t>Total de </a:t>
            </a:r>
            <a:r>
              <a:rPr lang="en-US" sz="2500" b="1" dirty="0" err="1">
                <a:solidFill>
                  <a:schemeClr val="dk1"/>
                </a:solidFill>
                <a:latin typeface="Calibri"/>
                <a:ea typeface="Microsoft YaHei"/>
              </a:rPr>
              <a:t>requisitos</a:t>
            </a:r>
            <a:r>
              <a:rPr lang="en-US" sz="2500" b="1" dirty="0">
                <a:solidFill>
                  <a:schemeClr val="dk1"/>
                </a:solidFill>
                <a:latin typeface="Calibri"/>
                <a:ea typeface="Microsoft YaHei"/>
              </a:rPr>
              <a:t> </a:t>
            </a:r>
            <a:r>
              <a:rPr lang="en-US" sz="2500" b="1" dirty="0" err="1">
                <a:solidFill>
                  <a:schemeClr val="dk1"/>
                </a:solidFill>
                <a:latin typeface="Calibri"/>
                <a:ea typeface="Microsoft YaHei"/>
              </a:rPr>
              <a:t>iniciados</a:t>
            </a:r>
            <a:r>
              <a:rPr lang="en-US" sz="2500" dirty="0">
                <a:solidFill>
                  <a:schemeClr val="dk1"/>
                </a:solidFill>
                <a:latin typeface="Calibri"/>
                <a:ea typeface="Microsoft YaHei"/>
              </a:rPr>
              <a:t>: {{</a:t>
            </a:r>
            <a:r>
              <a:rPr lang="en-US" sz="2500" dirty="0" err="1">
                <a:solidFill>
                  <a:schemeClr val="dk1"/>
                </a:solidFill>
                <a:latin typeface="Calibri"/>
                <a:ea typeface="Microsoft YaHei"/>
              </a:rPr>
              <a:t>cobertura_sprint.reqs_novos_iniciados</a:t>
            </a:r>
            <a:r>
              <a:rPr lang="en-US" sz="2500" dirty="0">
                <a:solidFill>
                  <a:schemeClr val="dk1"/>
                </a:solidFill>
                <a:latin typeface="Calibri"/>
                <a:ea typeface="Microsoft YaHei"/>
              </a:rPr>
              <a:t>}}</a:t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endParaRPr lang="en-US" sz="2600" dirty="0">
              <a:solidFill>
                <a:schemeClr val="dk1"/>
              </a:solidFill>
              <a:latin typeface="Calibri"/>
              <a:ea typeface="Microsoft YaHei"/>
            </a:endParaRPr>
          </a:p>
        </p:txBody>
      </p:sp>
      <p:pic>
        <p:nvPicPr>
          <p:cNvPr id="72" name="Imagem 71">
            <a:extLst>
              <a:ext uri="{FF2B5EF4-FFF2-40B4-BE49-F238E27FC236}">
                <a16:creationId xmlns:a16="http://schemas.microsoft.com/office/drawing/2014/main" id="{BF3D210A-FD0E-6D5A-2611-8E55A48071B6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Title 3">
            <a:extLst>
              <a:ext uri="{FF2B5EF4-FFF2-40B4-BE49-F238E27FC236}">
                <a16:creationId xmlns:a16="http://schemas.microsoft.com/office/drawing/2014/main" id="{C0C8C7D4-F9F0-D549-E869-DD346D086A8F}"/>
              </a:ext>
            </a:extLst>
          </p:cNvPr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 dirty="0" err="1">
                <a:solidFill>
                  <a:srgbClr val="EA7500"/>
                </a:solidFill>
                <a:effectLst/>
                <a:uFillTx/>
                <a:latin typeface="Calibri"/>
              </a:rPr>
              <a:t>Cobertura</a:t>
            </a:r>
            <a:r>
              <a:rPr lang="en-US" sz="4400" b="0" u="none" strike="noStrike" dirty="0">
                <a:solidFill>
                  <a:srgbClr val="EA7500"/>
                </a:solidFill>
                <a:effectLst/>
                <a:uFillTx/>
                <a:latin typeface="Calibri"/>
              </a:rPr>
              <a:t> da Sprint</a:t>
            </a:r>
            <a:endParaRPr lang="pt-BR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571791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B98D9-C285-B8FA-C00A-45C2E2F4E5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>
            <a:extLst>
              <a:ext uri="{FF2B5EF4-FFF2-40B4-BE49-F238E27FC236}">
                <a16:creationId xmlns:a16="http://schemas.microsoft.com/office/drawing/2014/main" id="{609192AB-E9DC-EBBE-3C72-9686799F1BC7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457919" y="1618920"/>
            <a:ext cx="8685361" cy="505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algn="l">
              <a:spcBef>
                <a:spcPts val="641"/>
              </a:spcBef>
              <a:buClr>
                <a:srgbClr val="000000"/>
              </a:buClr>
              <a:buSzPct val="45000"/>
            </a:pPr>
            <a:endParaRPr dirty="0"/>
          </a:p>
          <a:p>
            <a: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r>
              <a:rPr lang="en-US" sz="2600" b="1" dirty="0" err="1">
                <a:solidFill>
                  <a:schemeClr val="tx2"/>
                </a:solidFill>
              </a:rPr>
              <a:t>Evolução</a:t>
            </a:r>
            <a:r>
              <a:rPr lang="en-US" sz="2600" b="1" dirty="0">
                <a:solidFill>
                  <a:schemeClr val="tx2"/>
                </a:solidFill>
              </a:rPr>
              <a:t> de </a:t>
            </a:r>
            <a:r>
              <a:rPr lang="en-US" sz="2600" b="1" dirty="0" err="1">
                <a:solidFill>
                  <a:schemeClr val="tx2"/>
                </a:solidFill>
              </a:rPr>
              <a:t>desenvolvimento</a:t>
            </a:r>
            <a:r>
              <a:rPr lang="en-US" sz="2600" b="1" dirty="0">
                <a:solidFill>
                  <a:schemeClr val="tx2"/>
                </a:solidFill>
              </a:rPr>
              <a:t> </a:t>
            </a:r>
            <a:r>
              <a:rPr lang="en-US" sz="2600" b="1" dirty="0" err="1">
                <a:solidFill>
                  <a:schemeClr val="tx2"/>
                </a:solidFill>
              </a:rPr>
              <a:t>por</a:t>
            </a:r>
            <a:r>
              <a:rPr lang="en-US" sz="2600" b="1" dirty="0">
                <a:solidFill>
                  <a:schemeClr val="tx2"/>
                </a:solidFill>
              </a:rPr>
              <a:t> </a:t>
            </a:r>
            <a:r>
              <a:rPr lang="en-US" sz="2600" b="1" dirty="0" err="1">
                <a:solidFill>
                  <a:schemeClr val="tx2"/>
                </a:solidFill>
              </a:rPr>
              <a:t>requisito</a:t>
            </a:r>
            <a:r>
              <a:rPr lang="en-US" sz="2600" b="1" dirty="0">
                <a:solidFill>
                  <a:schemeClr val="tx2"/>
                </a:solidFill>
              </a:rPr>
              <a:t>:</a:t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dirty="0">
                <a:solidFill>
                  <a:schemeClr val="dk1"/>
                </a:solidFill>
                <a:latin typeface="Calibri"/>
                <a:ea typeface="Microsoft YaHei"/>
              </a:rPr>
              <a:t>{{</a:t>
            </a:r>
            <a:r>
              <a:rPr lang="en-US" sz="2600" dirty="0" err="1">
                <a:solidFill>
                  <a:schemeClr val="dk1"/>
                </a:solidFill>
                <a:latin typeface="Calibri"/>
                <a:ea typeface="Microsoft YaHei"/>
              </a:rPr>
              <a:t>cobertura_sprint.por_req</a:t>
            </a:r>
            <a:r>
              <a:rPr lang="en-US" sz="2600" dirty="0">
                <a:solidFill>
                  <a:schemeClr val="dk1"/>
                </a:solidFill>
                <a:latin typeface="Calibri"/>
                <a:ea typeface="Microsoft YaHei"/>
              </a:rPr>
              <a:t>}}</a:t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endParaRPr lang="en-US" sz="2600" dirty="0">
              <a:solidFill>
                <a:schemeClr val="dk1"/>
              </a:solidFill>
              <a:latin typeface="Calibri"/>
              <a:ea typeface="Microsoft YaHei"/>
            </a:endParaRPr>
          </a:p>
        </p:txBody>
      </p:sp>
      <p:pic>
        <p:nvPicPr>
          <p:cNvPr id="72" name="Imagem 71">
            <a:extLst>
              <a:ext uri="{FF2B5EF4-FFF2-40B4-BE49-F238E27FC236}">
                <a16:creationId xmlns:a16="http://schemas.microsoft.com/office/drawing/2014/main" id="{D7EB8217-4646-CFB8-CB0D-BF2058F75E4A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Title 3">
            <a:extLst>
              <a:ext uri="{FF2B5EF4-FFF2-40B4-BE49-F238E27FC236}">
                <a16:creationId xmlns:a16="http://schemas.microsoft.com/office/drawing/2014/main" id="{62B8FAD1-9B65-A1E2-1291-3887854C0897}"/>
              </a:ext>
            </a:extLst>
          </p:cNvPr>
          <p:cNvSpPr/>
          <p:nvPr/>
        </p:nvSpPr>
        <p:spPr>
          <a:xfrm>
            <a:off x="1903750" y="180000"/>
            <a:ext cx="7239889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 dirty="0" err="1">
                <a:solidFill>
                  <a:srgbClr val="EA7500"/>
                </a:solidFill>
                <a:effectLst/>
                <a:uFillTx/>
                <a:latin typeface="Calibri"/>
              </a:rPr>
              <a:t>Evolução</a:t>
            </a:r>
            <a:r>
              <a:rPr lang="en-US" sz="4400" b="0" u="none" strike="noStrike" dirty="0">
                <a:solidFill>
                  <a:srgbClr val="EA7500"/>
                </a:solidFill>
                <a:effectLst/>
                <a:uFillTx/>
                <a:latin typeface="Calibri"/>
              </a:rPr>
              <a:t> de </a:t>
            </a:r>
            <a:r>
              <a:rPr lang="en-US" sz="4400" b="0" u="none" strike="noStrike" dirty="0" err="1">
                <a:solidFill>
                  <a:srgbClr val="EA7500"/>
                </a:solidFill>
                <a:effectLst/>
                <a:uFillTx/>
                <a:latin typeface="Calibri"/>
              </a:rPr>
              <a:t>desenvolvimento</a:t>
            </a:r>
            <a:endParaRPr lang="en-US" sz="4400" b="0" u="none" strike="noStrike" dirty="0">
              <a:solidFill>
                <a:srgbClr val="EA7500"/>
              </a:solidFill>
              <a:effectLst/>
              <a:uFillTx/>
              <a:latin typeface="Calibri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4400" b="0" u="none" strike="noStrike" dirty="0">
                <a:solidFill>
                  <a:srgbClr val="EA7500"/>
                </a:solidFill>
                <a:effectLst/>
                <a:uFillTx/>
                <a:latin typeface="Calibri"/>
              </a:rPr>
              <a:t> da Sprint</a:t>
            </a:r>
            <a:endParaRPr lang="pt-BR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010423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/>
          </p:nvPr>
        </p:nvSpPr>
        <p:spPr>
          <a:xfrm>
            <a:off x="457200" y="1618920"/>
            <a:ext cx="8228160" cy="505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sz="2800" dirty="0"/>
              <a:t>{{</a:t>
            </a:r>
            <a:r>
              <a:rPr sz="2800" dirty="0" err="1"/>
              <a:t>SLIDE:riscos_e_impedimentos</a:t>
            </a:r>
            <a:r>
              <a:rPr sz="2800" dirty="0"/>
              <a:t>}}</a:t>
            </a:r>
            <a:endParaRPr lang="en-US" sz="28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indent="-457200" algn="l">
              <a:spcBef>
                <a:spcPts val="641"/>
              </a:spcBef>
              <a:buClr>
                <a:srgbClr val="000000"/>
              </a:buClr>
              <a:buFont typeface="+mj-lt"/>
              <a:buAutoNum type="arabicPeriod"/>
            </a:pPr>
            <a:r>
              <a:rPr lang="en-US" sz="22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{{</a:t>
            </a:r>
            <a:r>
              <a:rPr lang="pt-BR" sz="2200" b="1" dirty="0" err="1">
                <a:solidFill>
                  <a:schemeClr val="tx2"/>
                </a:solidFill>
              </a:rPr>
              <a:t>riscos_e_impedimentos.nome</a:t>
            </a:r>
            <a:r>
              <a:rPr lang="en-US" sz="22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}}</a:t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200" b="1" dirty="0" err="1">
                <a:solidFill>
                  <a:schemeClr val="dk1"/>
                </a:solidFill>
                <a:latin typeface="Calibri"/>
                <a:ea typeface="Microsoft YaHei"/>
              </a:rPr>
              <a:t>Severidade</a:t>
            </a:r>
            <a:r>
              <a:rPr lang="en-US" sz="2200" dirty="0">
                <a:solidFill>
                  <a:schemeClr val="dk1"/>
                </a:solidFill>
                <a:latin typeface="Calibri"/>
                <a:ea typeface="Microsoft YaHei"/>
              </a:rPr>
              <a:t>: {{</a:t>
            </a:r>
            <a:r>
              <a:rPr lang="pt-BR" sz="2200" dirty="0" err="1">
                <a:solidFill>
                  <a:schemeClr val="dk1"/>
                </a:solidFill>
                <a:latin typeface="Calibri"/>
                <a:ea typeface="Microsoft YaHei"/>
              </a:rPr>
              <a:t>riscos_e_impedimentos.tipo</a:t>
            </a:r>
            <a:r>
              <a:rPr lang="en-US" sz="2200" dirty="0">
                <a:solidFill>
                  <a:schemeClr val="dk1"/>
                </a:solidFill>
                <a:latin typeface="Calibri"/>
                <a:ea typeface="Microsoft YaHei"/>
              </a:rPr>
              <a:t>}}</a:t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200" b="1" dirty="0" err="1">
                <a:solidFill>
                  <a:schemeClr val="dk1"/>
                </a:solidFill>
                <a:latin typeface="Calibri"/>
                <a:ea typeface="Microsoft YaHei"/>
              </a:rPr>
              <a:t>Motivo</a:t>
            </a:r>
            <a:r>
              <a:rPr lang="en-US" sz="2200" dirty="0">
                <a:solidFill>
                  <a:schemeClr val="dk1"/>
                </a:solidFill>
                <a:latin typeface="Calibri"/>
                <a:ea typeface="Microsoft YaHei"/>
              </a:rPr>
              <a:t>: {{</a:t>
            </a:r>
            <a:r>
              <a:rPr lang="pt-BR" sz="2200" dirty="0" err="1">
                <a:solidFill>
                  <a:schemeClr val="dk1"/>
                </a:solidFill>
                <a:latin typeface="Calibri"/>
                <a:ea typeface="Microsoft YaHei"/>
              </a:rPr>
              <a:t>riscos_e_impedimentos.motivo</a:t>
            </a:r>
            <a:r>
              <a:rPr lang="en-US" sz="2200" dirty="0">
                <a:solidFill>
                  <a:schemeClr val="dk1"/>
                </a:solidFill>
                <a:latin typeface="Calibri"/>
                <a:ea typeface="Microsoft YaHei"/>
              </a:rPr>
              <a:t>}}</a:t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200" b="1" dirty="0" err="1">
                <a:solidFill>
                  <a:schemeClr val="dk1"/>
                </a:solidFill>
                <a:latin typeface="Calibri"/>
                <a:ea typeface="Microsoft YaHei"/>
              </a:rPr>
              <a:t>Ação</a:t>
            </a:r>
            <a:r>
              <a:rPr lang="en-US" sz="2200" dirty="0">
                <a:solidFill>
                  <a:schemeClr val="dk1"/>
                </a:solidFill>
                <a:latin typeface="Calibri"/>
                <a:ea typeface="Microsoft YaHei"/>
              </a:rPr>
              <a:t>: {{</a:t>
            </a:r>
            <a:r>
              <a:rPr lang="pt-BR" sz="2200" dirty="0" err="1">
                <a:solidFill>
                  <a:schemeClr val="dk1"/>
                </a:solidFill>
                <a:latin typeface="Calibri"/>
                <a:ea typeface="Microsoft YaHei"/>
              </a:rPr>
              <a:t>riscos_e_impedimentos.acao_esperada</a:t>
            </a:r>
            <a:r>
              <a:rPr lang="en-US" sz="2200" dirty="0">
                <a:solidFill>
                  <a:schemeClr val="dk1"/>
                </a:solidFill>
                <a:latin typeface="Calibri"/>
                <a:ea typeface="Microsoft YaHei"/>
              </a:rPr>
              <a:t>}}</a:t>
            </a:r>
          </a:p>
        </p:txBody>
      </p:sp>
      <p:pic>
        <p:nvPicPr>
          <p:cNvPr id="75" name="Imagem 74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" name="Title 4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dirty="0" err="1">
                <a:solidFill>
                  <a:srgbClr val="EA7500"/>
                </a:solidFill>
              </a:rPr>
              <a:t>Riscos</a:t>
            </a:r>
            <a:r>
              <a:rPr lang="en-US" sz="4400" dirty="0">
                <a:solidFill>
                  <a:srgbClr val="EA7500"/>
                </a:solidFill>
              </a:rPr>
              <a:t> e </a:t>
            </a:r>
            <a:r>
              <a:rPr lang="en-US" sz="4400" dirty="0" err="1">
                <a:solidFill>
                  <a:srgbClr val="EA7500"/>
                </a:solidFill>
              </a:rPr>
              <a:t>Impedimentos</a:t>
            </a:r>
            <a:endParaRPr lang="pt-BR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/>
          </p:nvPr>
        </p:nvSpPr>
        <p:spPr>
          <a:xfrm>
            <a:off x="457200" y="1530360"/>
            <a:ext cx="8542080" cy="514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endParaRPr lang="en-US" sz="32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Artefatos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criados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: {{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metricas.artefatos_criados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}}</a:t>
            </a: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Pendências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resolvidas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: {{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metricas.pendencias_resolvidas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}}</a:t>
            </a: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Novas 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pendências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: {{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metricas.pendencias_novas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}}</a:t>
            </a: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Bugs 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corrigidos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: {{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metricas.bugs_corrigidos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}}</a:t>
            </a: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Total de Reports: {{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metricas.reports_total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}}</a:t>
            </a: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Reports 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resolvidos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: {{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metricas.reports_resolvidos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}}</a:t>
            </a: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Novas 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diretrizes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criadas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: {{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metricas.diretrizes_novas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}}</a:t>
            </a: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Pares de Q&amp;A 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criados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: {{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metricas.passos_qa_pairs_concluidos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}}</a:t>
            </a: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Requisitos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atendidos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: {{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metricas.cobertura_req_atendidos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}}</a:t>
            </a:r>
          </a:p>
        </p:txBody>
      </p:sp>
      <p:pic>
        <p:nvPicPr>
          <p:cNvPr id="78" name="Imagem 77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9" name="Title 5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Métricas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/>
          </p:nvPr>
        </p:nvSpPr>
        <p:spPr>
          <a:xfrm>
            <a:off x="457920" y="1321560"/>
            <a:ext cx="8228160" cy="5356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endParaRPr lang="en-US" sz="32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{{insights:3}}</a:t>
            </a:r>
          </a:p>
        </p:txBody>
      </p:sp>
      <p:pic>
        <p:nvPicPr>
          <p:cNvPr id="81" name="Imagem 80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2" name="Title 6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 dirty="0" err="1">
                <a:solidFill>
                  <a:srgbClr val="EA7500"/>
                </a:solidFill>
                <a:effectLst/>
                <a:uFillTx/>
                <a:latin typeface="Calibri"/>
              </a:rPr>
              <a:t>Informações</a:t>
            </a:r>
            <a:r>
              <a:rPr lang="en-US" sz="4400" b="0" u="none" strike="noStrike" dirty="0">
                <a:solidFill>
                  <a:srgbClr val="EA7500"/>
                </a:solidFill>
                <a:effectLst/>
                <a:uFillTx/>
                <a:latin typeface="Calibri"/>
              </a:rPr>
              <a:t> </a:t>
            </a:r>
            <a:r>
              <a:rPr lang="en-US" sz="4400" b="0" u="none" strike="noStrike" dirty="0" err="1">
                <a:solidFill>
                  <a:srgbClr val="EA7500"/>
                </a:solidFill>
                <a:effectLst/>
                <a:uFillTx/>
                <a:latin typeface="Calibri"/>
              </a:rPr>
              <a:t>adicionais</a:t>
            </a:r>
            <a:endParaRPr lang="pt-BR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685800" y="1618920"/>
            <a:ext cx="7770960" cy="1468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>Próximo</a:t>
            </a:r>
            <a:r>
              <a:rPr lang="en-US" sz="40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 Sprint</a:t>
            </a:r>
          </a:p>
        </p:txBody>
      </p:sp>
      <p:sp>
        <p:nvSpPr>
          <p:cNvPr id="84" name="PlaceHolder 2"/>
          <p:cNvSpPr>
            <a:spLocks noGrp="1"/>
          </p:cNvSpPr>
          <p:nvPr>
            <p:ph type="subTitle"/>
          </p:nvPr>
        </p:nvSpPr>
        <p:spPr>
          <a:xfrm>
            <a:off x="700790" y="3266640"/>
            <a:ext cx="7085160" cy="2773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algn="l">
              <a:spcBef>
                <a:spcPts val="64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Arial"/>
              <a:buChar char="•"/>
            </a:pPr>
            <a:r>
              <a:rPr lang="pt-BR" sz="2600" dirty="0"/>
              <a:t>Sprint {{</a:t>
            </a:r>
            <a:r>
              <a:rPr lang="pt-BR" sz="2600" dirty="0" err="1"/>
              <a:t>proximo_sprint_numero</a:t>
            </a:r>
            <a:r>
              <a:rPr lang="pt-BR" sz="2600" dirty="0"/>
              <a:t>}} </a:t>
            </a:r>
          </a:p>
          <a:p>
            <a:pPr marL="343080" indent="-343080" algn="l">
              <a:spcBef>
                <a:spcPts val="64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Arial"/>
              <a:buChar char="•"/>
            </a:pPr>
            <a:r>
              <a:rPr lang="pt-BR" sz="2600" dirty="0"/>
              <a:t>{{</a:t>
            </a:r>
            <a:r>
              <a:rPr lang="pt-BR" sz="2600" dirty="0" err="1"/>
              <a:t>proximo_data_inicio</a:t>
            </a:r>
            <a:r>
              <a:rPr lang="pt-BR" sz="2600" dirty="0"/>
              <a:t>}} - {{</a:t>
            </a:r>
            <a:r>
              <a:rPr lang="pt-BR" sz="2600" dirty="0" err="1"/>
              <a:t>proximo_data_fim</a:t>
            </a:r>
            <a:r>
              <a:rPr lang="pt-BR" sz="2600" dirty="0"/>
              <a:t>}} </a:t>
            </a:r>
          </a:p>
          <a:p>
            <a:pPr marL="343080" indent="-343080" algn="l">
              <a:spcBef>
                <a:spcPts val="64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Arial"/>
              <a:buChar char="•"/>
            </a:pPr>
            <a:r>
              <a:rPr lang="pt-BR" sz="2600" dirty="0"/>
              <a:t>{{</a:t>
            </a:r>
            <a:r>
              <a:rPr lang="pt-BR" sz="2600" dirty="0" err="1"/>
              <a:t>proximo_duracao_dias</a:t>
            </a:r>
            <a:r>
              <a:rPr lang="pt-BR" sz="2600" dirty="0"/>
              <a:t>}} dias</a:t>
            </a:r>
          </a:p>
        </p:txBody>
      </p:sp>
      <p:pic>
        <p:nvPicPr>
          <p:cNvPr id="85" name="Imagem 84"/>
          <p:cNvPicPr/>
          <p:nvPr/>
        </p:nvPicPr>
        <p:blipFill>
          <a:blip r:embed="rId2"/>
          <a:stretch/>
        </p:blipFill>
        <p:spPr>
          <a:xfrm>
            <a:off x="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" name="Title 1"/>
          <p:cNvSpPr/>
          <p:nvPr/>
        </p:nvSpPr>
        <p:spPr>
          <a:xfrm>
            <a:off x="915120" y="18036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Planejamento da </a:t>
            </a:r>
            <a:br>
              <a:rPr sz="4400"/>
            </a:b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próxima Sprint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subTitle"/>
          </p:nvPr>
        </p:nvSpPr>
        <p:spPr>
          <a:xfrm>
            <a:off x="799919" y="1828081"/>
            <a:ext cx="7857383" cy="4690706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pt-BR" sz="2000" b="0" u="none" strike="noStrike" dirty="0">
                <a:solidFill>
                  <a:schemeClr val="tx1"/>
                </a:solidFill>
                <a:effectLst/>
                <a:uFillTx/>
                <a:latin typeface="Calibri"/>
                <a:ea typeface="Microsoft YaHei"/>
              </a:rPr>
              <a:t>{{</a:t>
            </a:r>
            <a:r>
              <a:rPr lang="pt-BR" sz="2400" b="0" u="none" strike="noStrike" dirty="0">
                <a:solidFill>
                  <a:schemeClr val="tx1"/>
                </a:solidFill>
                <a:effectLst/>
                <a:uFillTx/>
                <a:latin typeface="Calibri"/>
                <a:ea typeface="Microsoft YaHei"/>
              </a:rPr>
              <a:t>proximasprint:6</a:t>
            </a:r>
            <a:r>
              <a:rPr lang="pt-BR" sz="2000" b="0" u="none" strike="noStrike" dirty="0">
                <a:solidFill>
                  <a:schemeClr val="tx1"/>
                </a:solidFill>
                <a:effectLst/>
                <a:uFillTx/>
                <a:latin typeface="Calibri"/>
                <a:ea typeface="Microsoft YaHei"/>
              </a:rPr>
              <a:t>}}</a:t>
            </a:r>
            <a:endParaRPr lang="pt-BR" sz="2000" b="0" u="none" strike="noStrike" dirty="0">
              <a:solidFill>
                <a:schemeClr val="tx1"/>
              </a:solidFill>
              <a:effectLst/>
              <a:uFillTx/>
              <a:latin typeface="Arial"/>
            </a:endParaRPr>
          </a:p>
        </p:txBody>
      </p:sp>
      <p:pic>
        <p:nvPicPr>
          <p:cNvPr id="88" name="Imagem 87"/>
          <p:cNvPicPr/>
          <p:nvPr/>
        </p:nvPicPr>
        <p:blipFill>
          <a:blip r:embed="rId2"/>
          <a:stretch/>
        </p:blipFill>
        <p:spPr>
          <a:xfrm>
            <a:off x="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" name="Title 12"/>
          <p:cNvSpPr/>
          <p:nvPr/>
        </p:nvSpPr>
        <p:spPr>
          <a:xfrm>
            <a:off x="915120" y="18036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Planejamento da </a:t>
            </a:r>
            <a:br>
              <a:rPr sz="4400"/>
            </a:b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próxima Sprint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laceHolder 1"/>
          <p:cNvSpPr>
            <a:spLocks noGrp="1"/>
          </p:cNvSpPr>
          <p:nvPr>
            <p:ph/>
          </p:nvPr>
        </p:nvSpPr>
        <p:spPr>
          <a:xfrm>
            <a:off x="457200" y="1321560"/>
            <a:ext cx="8228160" cy="5536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endParaRPr lang="en-US" sz="32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{{</a:t>
            </a:r>
            <a:r>
              <a:rPr lang="en-US" sz="20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proximo_objetivos</a:t>
            </a: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}} </a:t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1" name="Imagem 90"/>
          <p:cNvPicPr/>
          <p:nvPr/>
        </p:nvPicPr>
        <p:blipFill>
          <a:blip r:embed="rId2"/>
          <a:stretch/>
        </p:blipFill>
        <p:spPr>
          <a:xfrm>
            <a:off x="36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2" name="Title 10"/>
          <p:cNvSpPr/>
          <p:nvPr/>
        </p:nvSpPr>
        <p:spPr>
          <a:xfrm>
            <a:off x="1563328" y="180000"/>
            <a:ext cx="7579951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 dirty="0" err="1">
                <a:solidFill>
                  <a:srgbClr val="EA7500"/>
                </a:solidFill>
                <a:effectLst/>
                <a:uFillTx/>
                <a:latin typeface="Calibri"/>
              </a:rPr>
              <a:t>Objetivo</a:t>
            </a:r>
            <a:r>
              <a:rPr lang="en-US" sz="4400" b="0" u="none" strike="noStrike" dirty="0">
                <a:solidFill>
                  <a:srgbClr val="EA7500"/>
                </a:solidFill>
                <a:effectLst/>
                <a:uFillTx/>
                <a:latin typeface="Calibri"/>
              </a:rPr>
              <a:t> da </a:t>
            </a:r>
            <a:r>
              <a:rPr lang="en-US" sz="4400" b="0" u="none" strike="noStrike" dirty="0" err="1">
                <a:solidFill>
                  <a:srgbClr val="EA7500"/>
                </a:solidFill>
                <a:effectLst/>
                <a:uFillTx/>
                <a:latin typeface="Calibri"/>
              </a:rPr>
              <a:t>Próxima</a:t>
            </a:r>
            <a:r>
              <a:rPr lang="en-US" sz="4400" b="0" u="none" strike="noStrike" dirty="0">
                <a:solidFill>
                  <a:srgbClr val="EA7500"/>
                </a:solidFill>
                <a:effectLst/>
                <a:uFillTx/>
                <a:latin typeface="Calibri"/>
              </a:rPr>
              <a:t> Sprint</a:t>
            </a:r>
            <a:endParaRPr lang="pt-BR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/>
          </p:nvPr>
        </p:nvSpPr>
        <p:spPr>
          <a:xfrm>
            <a:off x="457200" y="1827720"/>
            <a:ext cx="8228160" cy="4850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{{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>backlogpendente</a:t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:7}}</a:t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4" name="Imagem 93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" name="Title 11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Backlog pendente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4466</TotalTime>
  <Words>407</Words>
  <Application>Microsoft Office PowerPoint</Application>
  <PresentationFormat>Apresentação na tela (4:3)</PresentationFormat>
  <Paragraphs>61</Paragraphs>
  <Slides>12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12</vt:i4>
      </vt:variant>
    </vt:vector>
  </HeadingPairs>
  <TitlesOfParts>
    <vt:vector size="18" baseType="lpstr">
      <vt:lpstr>Arial</vt:lpstr>
      <vt:lpstr>Calibri</vt:lpstr>
      <vt:lpstr>Symbol</vt:lpstr>
      <vt:lpstr>Times New Roman</vt:lpstr>
      <vt:lpstr>Wingdings</vt:lpstr>
      <vt:lpstr>Office Theme</vt:lpstr>
      <vt:lpstr>Sprint Review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Próximo Sprint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>generated using python-pptx</dc:description>
  <cp:lastModifiedBy>Maria Cristina Sbrocco Figueiredo</cp:lastModifiedBy>
  <cp:revision>58</cp:revision>
  <dcterms:created xsi:type="dcterms:W3CDTF">2013-01-27T09:14:16Z</dcterms:created>
  <dcterms:modified xsi:type="dcterms:W3CDTF">2026-05-25T19:21:33Z</dcterms:modified>
  <dc:language>pt-BR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