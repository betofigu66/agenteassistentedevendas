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59" r:id="rId7"/>
    <p:sldId id="260" r:id="rId8"/>
    <p:sldId id="262" r:id="rId9"/>
    <p:sldId id="263" r:id="rId10"/>
    <p:sldId id="264" r:id="rId11"/>
    <p:sldId id="265" r:id="rId12"/>
  </p:sldIdLst>
  <p:sldSz cx="9144000" cy="6858000" type="screen4x3"/>
  <p:notesSz cx="7559675" cy="106918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156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adrã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7A5142-31BB-49EC-AAA7-3346BFC3A7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84D38D-BCB8-4780-A7C9-DCDD4F99D2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96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48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F18AB68-CB0F-4F42-A469-FC53B7EBE6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5434C64-A4E5-4E8F-899D-DAB7305740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96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96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45A7FA-0BA9-45FA-8E73-BB2151AA18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04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D9D8B24-0F54-4ACA-A15F-ACA4DAEB6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84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84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28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28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4C3921-8FF7-45A9-AB77-95B12FFBC9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07FD2B-2D84-4D7C-9CB3-98EAA734F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A5061C-1421-48F7-B415-CE6A82B775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72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20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72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229EA1-40D4-4C97-BAF5-305353E642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9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9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3C6E4A9-E911-4567-A0FD-350978F401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61" name="PlaceHolder 2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63" name="PlaceHolder 4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A3C00C-0118-442C-A3B5-7916CE484E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1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85800" y="195156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Sprint Review</a:t>
            </a: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1371600" y="3420000"/>
            <a:ext cx="63993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Agente de vendas 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Inforrel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Sprint 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sprint_numero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data_inicio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- 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data_fim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{{</a:t>
            </a:r>
            <a:r>
              <a:rPr lang="pt-BR" sz="3200" b="0" u="none" strike="noStrike" dirty="0" err="1">
                <a:solidFill>
                  <a:schemeClr val="tx1"/>
                </a:solidFill>
                <a:effectLst/>
                <a:uFillTx/>
                <a:latin typeface="Calibri"/>
              </a:rPr>
              <a:t>duracao_dias</a:t>
            </a:r>
            <a:r>
              <a:rPr lang="pt-BR" sz="3200" b="0" u="none" strike="noStrike" dirty="0">
                <a:solidFill>
                  <a:schemeClr val="tx1"/>
                </a:solidFill>
                <a:effectLst/>
                <a:uFillTx/>
                <a:latin typeface="Calibri"/>
              </a:rPr>
              <a:t>}} dias</a:t>
            </a:r>
            <a:endParaRPr lang="pt-BR" sz="32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m 66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457200" y="155844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objetivos</a:t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Imagem 68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itle 2"/>
          <p:cNvSpPr/>
          <p:nvPr/>
        </p:nvSpPr>
        <p:spPr>
          <a:xfrm>
            <a:off x="91512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Objetivo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11120" y="1321560"/>
            <a:ext cx="8228160" cy="463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</a:t>
            </a:r>
            <a:r>
              <a:rPr lang="en-US" sz="32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SLIDE:feito</a:t>
            </a:r>
            <a:r>
              <a:rPr lang="en-US" sz="32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en-US" sz="26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feito.titulo</a:t>
            </a:r>
            <a:r>
              <a:rPr lang="en-US" sz="26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envolvidos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: 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endParaRPr lang="en-US" sz="1100" dirty="0">
              <a:solidFill>
                <a:schemeClr val="dk1"/>
              </a:solidFill>
              <a:latin typeface="Calibri"/>
              <a:ea typeface="Microsoft YaHei"/>
            </a:endParaRPr>
          </a:p>
          <a:p>
            <a:pPr marL="540000"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Porcentagem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de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cobertura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por</a:t>
            </a:r>
            <a:r>
              <a:rPr lang="en-US" sz="26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6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</a:t>
            </a:r>
            <a:r>
              <a:rPr lang="en-US" sz="2600" dirty="0">
                <a:solidFill>
                  <a:schemeClr val="dk1"/>
                </a:solidFill>
                <a:latin typeface="Calibri"/>
                <a:ea typeface="Microsoft YaHei"/>
              </a:rPr>
              <a:t>: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feito</a:t>
            </a:r>
            <a:r>
              <a:rPr lang="en-US" sz="2600" dirty="0" err="1">
                <a:solidFill>
                  <a:schemeClr val="dk1"/>
                </a:solidFill>
                <a:latin typeface="Calibri"/>
                <a:ea typeface="Microsoft YaHei"/>
              </a:rPr>
              <a:t>.</a:t>
            </a:r>
            <a:r>
              <a:rPr lang="en-US" sz="26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cobertura_req</a:t>
            </a:r>
            <a:r>
              <a:rPr lang="en-US" sz="2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</a:t>
            </a:r>
            <a:endParaRPr lang="en-US" sz="26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2" name="Imagem 71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Realizações da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4C28B-5E15-33C1-CEA6-6C65A20D8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D3379948-67E2-0B77-A34C-D977D0B3DB0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618920"/>
            <a:ext cx="8685361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tabLst>
                <a:tab pos="0" algn="l"/>
              </a:tabLst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Cobertura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do sprint</a:t>
            </a:r>
            <a:r>
              <a:rPr lang="en-US" sz="2500" b="1" dirty="0">
                <a:solidFill>
                  <a:schemeClr val="tx2"/>
                </a:solidFill>
              </a:rPr>
              <a:t>: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Anterior à esse sprint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cobertura_sprint.cobertura_ponderada.antes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Após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esse sprint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cobertura_sprint.cobertura_ponderada.depois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Diferença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>cobertura_</a:t>
            </a:r>
            <a:r>
              <a:rPr lang="en-US" sz="2400" err="1">
                <a:solidFill>
                  <a:schemeClr val="dk1"/>
                </a:solidFill>
                <a:latin typeface="Calibri"/>
                <a:ea typeface="Microsoft YaHei"/>
              </a:rPr>
              <a:t>sprint</a:t>
            </a:r>
            <a:r>
              <a:rPr lang="en-US" sz="2400">
                <a:solidFill>
                  <a:schemeClr val="dk1"/>
                </a:solidFill>
                <a:latin typeface="Calibri"/>
                <a:ea typeface="Microsoft YaHei"/>
              </a:rPr>
              <a:t>.cobertura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>_ponderada.delta_pp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343080" indent="-343080" algn="l"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Avanço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 de </a:t>
            </a:r>
            <a:r>
              <a:rPr lang="en-US" sz="25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Requisitos</a:t>
            </a:r>
            <a:r>
              <a:rPr lang="en-US" sz="2500" b="1" u="none" strike="noStrike" dirty="0">
                <a:solidFill>
                  <a:schemeClr val="tx2"/>
                </a:solidFill>
                <a:effectLst/>
                <a:uFillTx/>
                <a:latin typeface="Calibri"/>
                <a:ea typeface="Microsoft YaHei"/>
              </a:rPr>
              <a:t>: 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avançados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cobertura_sprint.reqs_avancados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Total de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requisitos</a:t>
            </a:r>
            <a:r>
              <a:rPr lang="en-US" sz="2400" b="1" dirty="0">
                <a:solidFill>
                  <a:schemeClr val="dk1"/>
                </a:solidFill>
                <a:latin typeface="Calibri"/>
                <a:ea typeface="Microsoft YaHei"/>
              </a:rPr>
              <a:t> </a:t>
            </a:r>
            <a:r>
              <a:rPr lang="en-US" sz="2400" b="1" dirty="0" err="1">
                <a:solidFill>
                  <a:schemeClr val="dk1"/>
                </a:solidFill>
                <a:latin typeface="Calibri"/>
                <a:ea typeface="Microsoft YaHei"/>
              </a:rPr>
              <a:t>iniciados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en-US" sz="2400" dirty="0" err="1">
                <a:solidFill>
                  <a:schemeClr val="dk1"/>
                </a:solidFill>
                <a:latin typeface="Calibri"/>
                <a:ea typeface="Microsoft YaHei"/>
              </a:rPr>
              <a:t>cobertura_sprint.reqs_novos_iniciados</a:t>
            </a:r>
            <a:r>
              <a:rPr lang="en-US" sz="24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endParaRPr lang="en-US" sz="2600" dirty="0">
              <a:solidFill>
                <a:schemeClr val="dk1"/>
              </a:solidFill>
              <a:latin typeface="Calibri"/>
              <a:ea typeface="Microsoft YaHei"/>
            </a:endParaRPr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BF3D210A-FD0E-6D5A-2611-8E55A48071B6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C0C8C7D4-F9F0-D549-E869-DD346D086A8F}"/>
              </a:ext>
            </a:extLst>
          </p:cNvPr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Cobertura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7179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B98D9-C285-B8FA-C00A-45C2E2F4E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>
            <a:extLst>
              <a:ext uri="{FF2B5EF4-FFF2-40B4-BE49-F238E27FC236}">
                <a16:creationId xmlns:a16="http://schemas.microsoft.com/office/drawing/2014/main" id="{609192AB-E9DC-EBBE-3C72-9686799F1BC7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919" y="1618920"/>
            <a:ext cx="8685361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l">
              <a:spcBef>
                <a:spcPts val="641"/>
              </a:spcBef>
              <a:buClr>
                <a:srgbClr val="000000"/>
              </a:buClr>
              <a:buSzPct val="45000"/>
            </a:pPr>
            <a:r>
              <a:t>{{GRAFICO:cobertura_ponderada}}</a:t>
            </a:r>
            <a:endParaRPr dirty="0"/>
          </a:p>
        </p:txBody>
      </p:sp>
      <p:pic>
        <p:nvPicPr>
          <p:cNvPr id="72" name="Imagem 71">
            <a:extLst>
              <a:ext uri="{FF2B5EF4-FFF2-40B4-BE49-F238E27FC236}">
                <a16:creationId xmlns:a16="http://schemas.microsoft.com/office/drawing/2014/main" id="{D7EB8217-4646-CFB8-CB0D-BF2058F75E4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itle 3">
            <a:extLst>
              <a:ext uri="{FF2B5EF4-FFF2-40B4-BE49-F238E27FC236}">
                <a16:creationId xmlns:a16="http://schemas.microsoft.com/office/drawing/2014/main" id="{62B8FAD1-9B65-A1E2-1291-3887854C0897}"/>
              </a:ext>
            </a:extLst>
          </p:cNvPr>
          <p:cNvSpPr/>
          <p:nvPr/>
        </p:nvSpPr>
        <p:spPr>
          <a:xfrm>
            <a:off x="1903750" y="180000"/>
            <a:ext cx="7239889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Evolução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de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desenvolvimento</a:t>
            </a:r>
            <a:endParaRPr lang="en-US" sz="4400" b="0" u="none" strike="noStrike" dirty="0">
              <a:solidFill>
                <a:srgbClr val="EA7500"/>
              </a:solidFill>
              <a:effectLst/>
              <a:uFillTx/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por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requisito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104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457200" y="1618920"/>
            <a:ext cx="8228160" cy="505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2800" dirty="0"/>
              <a:t>{{</a:t>
            </a:r>
            <a:r>
              <a:rPr sz="2800" dirty="0" err="1"/>
              <a:t>SLIDE:riscos_e_impedimentos</a:t>
            </a:r>
            <a:r>
              <a:rPr sz="2800" dirty="0"/>
              <a:t>}}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-457200" algn="l">
              <a:spcBef>
                <a:spcPts val="641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{{</a:t>
            </a:r>
            <a:r>
              <a:rPr lang="pt-BR" sz="2200" b="1" dirty="0" err="1">
                <a:solidFill>
                  <a:schemeClr val="tx2"/>
                </a:solidFill>
              </a:rPr>
              <a:t>riscos_e_impedimentos.nome</a:t>
            </a:r>
            <a:r>
              <a:rPr lang="en-US" sz="22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Severidade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riscos_e_impedimentos.tipo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riscos_e_impedimentos.motivo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200" b="1" dirty="0" err="1">
                <a:solidFill>
                  <a:schemeClr val="dk1"/>
                </a:solidFill>
                <a:latin typeface="Calibri"/>
                <a:ea typeface="Microsoft YaHei"/>
              </a:rPr>
              <a:t>Ação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: {{</a:t>
            </a:r>
            <a:r>
              <a:rPr lang="pt-BR" sz="2200" dirty="0" err="1">
                <a:solidFill>
                  <a:schemeClr val="dk1"/>
                </a:solidFill>
                <a:latin typeface="Calibri"/>
                <a:ea typeface="Microsoft YaHei"/>
              </a:rPr>
              <a:t>riscos_e_impedimentos.acao_esperada</a:t>
            </a:r>
            <a:r>
              <a:rPr lang="en-US" sz="2200" dirty="0">
                <a:solidFill>
                  <a:schemeClr val="dk1"/>
                </a:solidFill>
                <a:latin typeface="Calibri"/>
                <a:ea typeface="Microsoft YaHei"/>
              </a:rPr>
              <a:t>}}</a:t>
            </a:r>
          </a:p>
        </p:txBody>
      </p:sp>
      <p:pic>
        <p:nvPicPr>
          <p:cNvPr id="75" name="Imagem 74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itle 4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dirty="0" err="1">
                <a:solidFill>
                  <a:srgbClr val="EA7500"/>
                </a:solidFill>
              </a:rPr>
              <a:t>Riscos</a:t>
            </a:r>
            <a:r>
              <a:rPr lang="en-US" sz="4400" dirty="0">
                <a:solidFill>
                  <a:srgbClr val="EA7500"/>
                </a:solidFill>
              </a:rPr>
              <a:t> e </a:t>
            </a:r>
            <a:r>
              <a:rPr lang="en-US" sz="4400" dirty="0" err="1">
                <a:solidFill>
                  <a:srgbClr val="EA7500"/>
                </a:solidFill>
              </a:rPr>
              <a:t>Impedimentos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/>
          </p:nvPr>
        </p:nvSpPr>
        <p:spPr>
          <a:xfrm>
            <a:off x="457200" y="1530360"/>
            <a:ext cx="8542080" cy="514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Artefatos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metricas.artefatos_criados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metricas.pendencias_resolvidas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pendências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metricas.pendencias_novas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Bugs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corrigidos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metricas.bugs_corrigidos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Total de Reports: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metricas.reports_total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Reports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resolvidos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metricas.reports_resolvidos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Novas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diretrizes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metricas.diretrizes_novas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Pares de Q&amp;A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criados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metricas.passos_qa_pairs_concluidos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Requisitos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atendidos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: {{</a:t>
            </a:r>
            <a:r>
              <a:rPr lang="en-US" sz="24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metricas.cobertura_req_atendidos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}}</a:t>
            </a:r>
          </a:p>
        </p:txBody>
      </p:sp>
      <p:pic>
        <p:nvPicPr>
          <p:cNvPr id="78" name="Imagem 77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itle 5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Métricas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1618920"/>
            <a:ext cx="777096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dirty="0" err="1">
                <a:solidFill>
                  <a:schemeClr val="tx2"/>
                </a:solidFill>
                <a:effectLst/>
                <a:uFillTx/>
                <a:latin typeface="Calibri"/>
              </a:rPr>
              <a:t>Próximo</a:t>
            </a:r>
            <a:r>
              <a:rPr lang="en-US" sz="4000" b="1" u="none" strike="noStrike" dirty="0">
                <a:solidFill>
                  <a:schemeClr val="tx2"/>
                </a:solidFill>
                <a:effectLst/>
                <a:uFillTx/>
                <a:latin typeface="Calibri"/>
              </a:rPr>
              <a:t> Sprint</a:t>
            </a: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700790" y="3266640"/>
            <a:ext cx="7085160" cy="2773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Sprint {{</a:t>
            </a:r>
            <a:r>
              <a:rPr lang="pt-BR" sz="2600" dirty="0" err="1"/>
              <a:t>proximo_sprint_numero</a:t>
            </a:r>
            <a:r>
              <a:rPr lang="pt-BR" sz="2600" dirty="0"/>
              <a:t>}}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{{</a:t>
            </a:r>
            <a:r>
              <a:rPr lang="pt-BR" sz="2600" dirty="0" err="1"/>
              <a:t>proximo_data_inicio</a:t>
            </a:r>
            <a:r>
              <a:rPr lang="pt-BR" sz="2600" dirty="0"/>
              <a:t>}} - {{</a:t>
            </a:r>
            <a:r>
              <a:rPr lang="pt-BR" sz="2600" dirty="0" err="1"/>
              <a:t>proximo_data_fim</a:t>
            </a:r>
            <a:r>
              <a:rPr lang="pt-BR" sz="2600" dirty="0"/>
              <a:t>}} </a:t>
            </a:r>
          </a:p>
          <a:p>
            <a:pPr marL="343080" indent="-343080" algn="l">
              <a:spcBef>
                <a:spcPts val="64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pt-BR" sz="2600" dirty="0"/>
              <a:t>{{</a:t>
            </a:r>
            <a:r>
              <a:rPr lang="pt-BR" sz="2600" dirty="0" err="1"/>
              <a:t>proximo_duracao_dias</a:t>
            </a:r>
            <a:r>
              <a:rPr lang="pt-BR" sz="2600" dirty="0"/>
              <a:t>}} dias</a:t>
            </a:r>
          </a:p>
        </p:txBody>
      </p:sp>
      <p:pic>
        <p:nvPicPr>
          <p:cNvPr id="85" name="Imagem 84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itle 1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799919" y="1828081"/>
            <a:ext cx="7857383" cy="4690706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pt-BR" sz="24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proximasprint:6</a:t>
            </a:r>
            <a:r>
              <a:rPr lang="pt-BR" sz="2000" b="0" u="none" strike="noStrike" dirty="0">
                <a:solidFill>
                  <a:schemeClr val="tx1"/>
                </a:solidFill>
                <a:effectLst/>
                <a:uFillTx/>
                <a:latin typeface="Calibri"/>
                <a:ea typeface="Microsoft YaHei"/>
              </a:rPr>
              <a:t>}}</a:t>
            </a:r>
            <a:endParaRPr lang="pt-BR" sz="2000" b="0" u="none" strike="noStrike" dirty="0">
              <a:solidFill>
                <a:schemeClr val="tx1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m 87"/>
          <p:cNvPicPr/>
          <p:nvPr/>
        </p:nvPicPr>
        <p:blipFill>
          <a:blip r:embed="rId2"/>
          <a:stretch/>
        </p:blipFill>
        <p:spPr>
          <a:xfrm>
            <a:off x="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itle 12"/>
          <p:cNvSpPr/>
          <p:nvPr/>
        </p:nvSpPr>
        <p:spPr>
          <a:xfrm>
            <a:off x="915120" y="18036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Planejamento da </a:t>
            </a:r>
            <a:br>
              <a:rPr sz="4400"/>
            </a:b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próxima Sprint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/>
          </p:nvPr>
        </p:nvSpPr>
        <p:spPr>
          <a:xfrm>
            <a:off x="457200" y="1321560"/>
            <a:ext cx="8228160" cy="553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{{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proximo_objetivos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Microsoft YaHei"/>
              </a:rPr>
              <a:t>}} 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1" name="Imagem 90"/>
          <p:cNvPicPr/>
          <p:nvPr/>
        </p:nvPicPr>
        <p:blipFill>
          <a:blip r:embed="rId2"/>
          <a:stretch/>
        </p:blipFill>
        <p:spPr>
          <a:xfrm>
            <a:off x="36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itle 10"/>
          <p:cNvSpPr/>
          <p:nvPr/>
        </p:nvSpPr>
        <p:spPr>
          <a:xfrm>
            <a:off x="1563328" y="180000"/>
            <a:ext cx="7579951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Objetivo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da </a:t>
            </a:r>
            <a:r>
              <a:rPr lang="en-US" sz="4400" b="0" u="none" strike="noStrike" dirty="0" err="1">
                <a:solidFill>
                  <a:srgbClr val="EA7500"/>
                </a:solidFill>
                <a:effectLst/>
                <a:uFillTx/>
                <a:latin typeface="Calibri"/>
              </a:rPr>
              <a:t>Próxima</a:t>
            </a:r>
            <a:r>
              <a:rPr lang="en-US" sz="4400" b="0" u="none" strike="noStrike" dirty="0">
                <a:solidFill>
                  <a:srgbClr val="EA7500"/>
                </a:solidFill>
                <a:effectLst/>
                <a:uFillTx/>
                <a:latin typeface="Calibri"/>
              </a:rPr>
              <a:t> Sprint</a:t>
            </a:r>
            <a:endParaRPr lang="pt-BR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/>
          </p:nvPr>
        </p:nvSpPr>
        <p:spPr>
          <a:xfrm>
            <a:off x="457200" y="1827720"/>
            <a:ext cx="8228160" cy="48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algn="l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{{</a:t>
            </a:r>
            <a:r>
              <a:rPr lang="en-US" sz="2000" b="0" u="none" strike="noStrike" err="1">
                <a:solidFill>
                  <a:schemeClr val="dk1"/>
                </a:solidFill>
                <a:effectLst/>
                <a:uFillTx/>
                <a:latin typeface="Calibri"/>
              </a:rPr>
              <a:t>backlogpendente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:7}}</a:t>
            </a:r>
            <a:endParaRPr lang="en-US" sz="20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4" name="Imagem 93"/>
          <p:cNvPicPr/>
          <p:nvPr/>
        </p:nvPicPr>
        <p:blipFill>
          <a:blip r:embed="rId2"/>
          <a:stretch/>
        </p:blipFill>
        <p:spPr>
          <a:xfrm>
            <a:off x="720" y="-28800"/>
            <a:ext cx="9142560" cy="164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Title 11"/>
          <p:cNvSpPr/>
          <p:nvPr/>
        </p:nvSpPr>
        <p:spPr>
          <a:xfrm>
            <a:off x="915480" y="180000"/>
            <a:ext cx="8228160" cy="114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400" b="0" u="none" strike="noStrike">
                <a:solidFill>
                  <a:srgbClr val="EA7500"/>
                </a:solidFill>
                <a:effectLst/>
                <a:uFillTx/>
                <a:latin typeface="Calibri"/>
              </a:rPr>
              <a:t>Backlog pendente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4480</TotalTime>
  <Words>391</Words>
  <Application>Microsoft Office PowerPoint</Application>
  <PresentationFormat>Apresentação na tela (4:3)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Sprint Review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Próximo Sprint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Maria Cristina Sbrocco Figueiredo</cp:lastModifiedBy>
  <cp:revision>65</cp:revision>
  <dcterms:created xsi:type="dcterms:W3CDTF">2013-01-27T09:14:16Z</dcterms:created>
  <dcterms:modified xsi:type="dcterms:W3CDTF">2026-05-26T18:53:09Z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